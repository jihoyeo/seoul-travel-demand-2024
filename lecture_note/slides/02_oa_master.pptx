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097280"/>
            <a:ext cx="64008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spc="240">
                <a:solidFill>
                  <a:srgbClr val="000000"/>
                </a:solidFill>
                <a:latin typeface="Pretendard"/>
                <a:ea typeface="Pretendard"/>
              </a:rPr>
              <a:t>LECTURE 02  ·  OA 마스터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554480"/>
            <a:ext cx="6766560" cy="237744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4400" b="0" spc="-100">
                <a:solidFill>
                  <a:srgbClr val="000000"/>
                </a:solidFill>
                <a:latin typeface="Pretendard ExtraBold"/>
                <a:ea typeface="Pretendard ExtraBold"/>
              </a:rPr>
              <a:t>OA 마스터 구축
+ SGIS · LOCAL_PEOPLE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931920"/>
            <a:ext cx="6766560" cy="100584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500" b="0">
                <a:solidFill>
                  <a:srgbClr val="5E5E5E"/>
                </a:solidFill>
                <a:latin typeface="Pretendard Medium"/>
                <a:ea typeface="Pretendard Medium"/>
              </a:rPr>
              <a:t>흩어진 SGIS 통계 · LOCAL_PEOPLE 을 한 파일로 묶어
이후 모든 OA 분석의 출발점 (oa_master.parquet) 을 만든다.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5120640"/>
            <a:ext cx="1691640" cy="457200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FFFFFF"/>
                </a:solidFill>
                <a:latin typeface="Pretendard Medium"/>
                <a:ea typeface="Pretendard Medium"/>
              </a:rPr>
              <a:t>Open notebook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377440" y="5120640"/>
            <a:ext cx="1691640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000000"/>
                </a:solidFill>
                <a:latin typeface="Pretendard Medium"/>
                <a:ea typeface="Pretendard Medium"/>
              </a:rPr>
              <a:t>View parquet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0" y="1097280"/>
            <a:ext cx="3870655" cy="4572000"/>
          </a:xfrm>
          <a:prstGeom prst="roundRect">
            <a:avLst>
              <a:gd name="adj" fmla="val 9922"/>
            </a:avLst>
          </a:prstGeom>
          <a:solidFill>
            <a:srgbClr val="FFFFFF"/>
          </a:solidFill>
          <a:ln w="9525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156448" y="1481328"/>
            <a:ext cx="3102559" cy="29260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spc="240">
                <a:solidFill>
                  <a:srgbClr val="5E5E5E"/>
                </a:solidFill>
                <a:latin typeface="Pretendard"/>
                <a:ea typeface="Pretendard"/>
              </a:rPr>
              <a:t>OVERVIEW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56448" y="1984248"/>
            <a:ext cx="118872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1">
                <a:solidFill>
                  <a:srgbClr val="000000"/>
                </a:solidFill>
                <a:latin typeface="Pretendard"/>
                <a:ea typeface="Pretendard"/>
              </a:rPr>
              <a:t>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45168" y="1984248"/>
            <a:ext cx="1913839" cy="7315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100" b="0">
                <a:solidFill>
                  <a:srgbClr val="5E5E5E"/>
                </a:solidFill>
                <a:latin typeface="Pretendard Medium"/>
                <a:ea typeface="Pretendard Medium"/>
              </a:rPr>
              <a:t>raw 가 여러 파일에 흩어져 있어
매번 join 하면 비효율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8156448" y="2807208"/>
            <a:ext cx="3102559" cy="0"/>
          </a:xfrm>
          <a:prstGeom prst="line">
            <a:avLst/>
          </a:prstGeom>
          <a:ln w="7620">
            <a:solidFill>
              <a:srgbClr val="EEEE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8156448" y="2852928"/>
            <a:ext cx="118872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1">
                <a:solidFill>
                  <a:srgbClr val="000000"/>
                </a:solidFill>
                <a:latin typeface="Pretendard"/>
                <a:ea typeface="Pretendard"/>
              </a:rPr>
              <a:t>4단계 위치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45168" y="2852928"/>
            <a:ext cx="1913839" cy="7315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100" b="0">
                <a:solidFill>
                  <a:srgbClr val="5E5E5E"/>
                </a:solidFill>
                <a:latin typeface="Pretendard Medium"/>
                <a:ea typeface="Pretendard Medium"/>
              </a:rPr>
              <a:t>1단계 (Trip Generation)
입력 변수 정비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8156448" y="3675888"/>
            <a:ext cx="3102559" cy="0"/>
          </a:xfrm>
          <a:prstGeom prst="line">
            <a:avLst/>
          </a:prstGeom>
          <a:ln w="7620">
            <a:solidFill>
              <a:srgbClr val="EEEE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8156448" y="3721608"/>
            <a:ext cx="118872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1">
                <a:solidFill>
                  <a:srgbClr val="000000"/>
                </a:solidFill>
                <a:latin typeface="Pretendard"/>
                <a:ea typeface="Pretendard"/>
              </a:rPr>
              <a:t>사전지식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45168" y="3721608"/>
            <a:ext cx="1913839" cy="7315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100" b="0">
                <a:solidFill>
                  <a:srgbClr val="5E5E5E"/>
                </a:solidFill>
                <a:latin typeface="Pretendard Medium"/>
                <a:ea typeface="Pretendard Medium"/>
              </a:rPr>
              <a:t>pandas pivot · GeoPandas
공간 join (Lec1)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8156448" y="4544568"/>
            <a:ext cx="3102559" cy="0"/>
          </a:xfrm>
          <a:prstGeom prst="line">
            <a:avLst/>
          </a:prstGeom>
          <a:ln w="7620">
            <a:solidFill>
              <a:srgbClr val="EEEE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8156448" y="4590288"/>
            <a:ext cx="118872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1">
                <a:solidFill>
                  <a:srgbClr val="000000"/>
                </a:solidFill>
                <a:latin typeface="Pretendard"/>
                <a:ea typeface="Pretendard"/>
              </a:rPr>
              <a:t>이번 시간 산출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45168" y="4590288"/>
            <a:ext cx="1913839" cy="7315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100" b="0">
                <a:solidFill>
                  <a:srgbClr val="5E5E5E"/>
                </a:solidFill>
                <a:latin typeface="Pretendard Medium"/>
                <a:ea typeface="Pretendard Medium"/>
              </a:rPr>
              <a:t>oa_master.parquet
19,097 OA × 150 cols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548640" y="6080760"/>
            <a:ext cx="11094415" cy="0"/>
          </a:xfrm>
          <a:prstGeom prst="line">
            <a:avLst/>
          </a:prstGeom>
          <a:ln w="7620">
            <a:solidFill>
              <a:srgbClr val="EEEE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548640" y="6199632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spc="240">
                <a:solidFill>
                  <a:srgbClr val="5E5E5E"/>
                </a:solidFill>
                <a:latin typeface="Pretendard"/>
                <a:ea typeface="Pretendard"/>
              </a:rPr>
              <a:t>TAZ STUDIO  ·  서울 통행수요 강좌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9855" y="6199632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100" b="1" spc="160">
                <a:solidFill>
                  <a:srgbClr val="5E5E5E"/>
                </a:solidFill>
                <a:latin typeface="Pretendard"/>
                <a:ea typeface="Pretendard"/>
              </a:rPr>
              <a:t>01 / 16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spc="240">
                <a:solidFill>
                  <a:srgbClr val="000000"/>
                </a:solidFill>
                <a:latin typeface="Pretendard"/>
                <a:ea typeface="Pretendard"/>
              </a:rPr>
              <a:t>DATA  ·  PIPELINE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899855" y="292608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100" b="1" spc="240">
                <a:solidFill>
                  <a:srgbClr val="5E5E5E"/>
                </a:solidFill>
                <a:latin typeface="Pretendard"/>
                <a:ea typeface="Pretendard"/>
              </a:rPr>
              <a:t>TAZ STUDIO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6382512"/>
            <a:ext cx="11094415" cy="0"/>
          </a:xfrm>
          <a:prstGeom prst="line">
            <a:avLst/>
          </a:prstGeom>
          <a:ln w="7620">
            <a:solidFill>
              <a:srgbClr val="EEEE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900" b="0">
                <a:solidFill>
                  <a:srgbClr val="5E5E5E"/>
                </a:solidFill>
                <a:latin typeface="Pretendard ExtraLight"/>
                <a:ea typeface="Pretendard ExtraLight"/>
              </a:rPr>
              <a:t>TAZ · Lecture 2 · OA 마스터 구축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900" b="0" spc="50">
                <a:solidFill>
                  <a:srgbClr val="5E5E5E"/>
                </a:solidFill>
                <a:latin typeface="Pretendard ExtraLight"/>
                <a:ea typeface="Pretendard ExtraLight"/>
              </a:rPr>
              <a:t>02 / 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914400"/>
            <a:ext cx="10058400" cy="6400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0" spc="-60">
                <a:solidFill>
                  <a:srgbClr val="000000"/>
                </a:solidFill>
                <a:latin typeface="Pretendard ExtraBold"/>
                <a:ea typeface="Pretendard ExtraBold"/>
              </a:rPr>
              <a:t>raw 데이터 → oa_master 한 파일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600200"/>
            <a:ext cx="109728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500" b="0">
                <a:solidFill>
                  <a:srgbClr val="5E5E5E"/>
                </a:solidFill>
                <a:latin typeface="Pretendard Medium"/>
                <a:ea typeface="Pretendard Medium"/>
              </a:rPr>
              <a:t>3 종 raw 를 한 키 (TOT_OA_CD) 로 합쳐, 이후 회귀·OD·superblock 의 공통 입력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514600"/>
            <a:ext cx="3200400" cy="1097280"/>
          </a:xfrm>
          <a:prstGeom prst="roundRect">
            <a:avLst>
              <a:gd name="adj" fmla="val 35000"/>
            </a:avLst>
          </a:prstGeom>
          <a:solidFill>
            <a:srgbClr val="EFEF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786384" y="2752344"/>
            <a:ext cx="2724912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spc="240">
                <a:solidFill>
                  <a:srgbClr val="5E5E5E"/>
                </a:solidFill>
                <a:latin typeface="Pretendard"/>
                <a:ea typeface="Pretendard"/>
              </a:rPr>
              <a:t>공간 데이터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" y="3026664"/>
            <a:ext cx="2724912" cy="32004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1" spc="0">
                <a:solidFill>
                  <a:srgbClr val="000000"/>
                </a:solidFill>
                <a:latin typeface="Cascadia Code"/>
                <a:ea typeface="Cascadia Code"/>
              </a:rPr>
              <a:t>sgis_oa  ·  sgis_oa_2016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6384" y="3300984"/>
            <a:ext cx="2724912" cy="32004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100" b="0">
                <a:solidFill>
                  <a:srgbClr val="5E5E5E"/>
                </a:solidFill>
                <a:latin typeface="Pretendard Medium"/>
                <a:ea typeface="Pretendard Medium"/>
              </a:rPr>
              <a:t>2025 / 2016 OA 폴리곤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3758184"/>
            <a:ext cx="3200400" cy="1097280"/>
          </a:xfrm>
          <a:prstGeom prst="roundRect">
            <a:avLst>
              <a:gd name="adj" fmla="val 35000"/>
            </a:avLst>
          </a:prstGeom>
          <a:solidFill>
            <a:srgbClr val="EFEF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786384" y="3995928"/>
            <a:ext cx="2724912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spc="240">
                <a:solidFill>
                  <a:srgbClr val="5E5E5E"/>
                </a:solidFill>
                <a:latin typeface="Pretendard"/>
                <a:ea typeface="Pretendard"/>
              </a:rPr>
              <a:t>SGIS 통계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6384" y="4270248"/>
            <a:ext cx="2724912" cy="32004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1" spc="0">
                <a:solidFill>
                  <a:srgbClr val="000000"/>
                </a:solidFill>
                <a:latin typeface="Cascadia Code"/>
                <a:ea typeface="Cascadia Code"/>
              </a:rPr>
              <a:t>sgis_census  ·  10 CSV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6384" y="4544568"/>
            <a:ext cx="2724912" cy="32004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100" b="0">
                <a:solidFill>
                  <a:srgbClr val="5E5E5E"/>
                </a:solidFill>
                <a:latin typeface="Pretendard Medium"/>
                <a:ea typeface="Pretendard Medium"/>
              </a:rPr>
              <a:t>인구 · 가구 · 주택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5001768"/>
            <a:ext cx="3200400" cy="1097280"/>
          </a:xfrm>
          <a:prstGeom prst="roundRect">
            <a:avLst>
              <a:gd name="adj" fmla="val 35000"/>
            </a:avLst>
          </a:prstGeom>
          <a:solidFill>
            <a:srgbClr val="EFEF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786384" y="5239512"/>
            <a:ext cx="2724912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spc="240">
                <a:solidFill>
                  <a:srgbClr val="5E5E5E"/>
                </a:solidFill>
                <a:latin typeface="Pretendard"/>
                <a:ea typeface="Pretendard"/>
              </a:rPr>
              <a:t>LOCAL_PEOPLE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6384" y="5513832"/>
            <a:ext cx="2724912" cy="32004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1" spc="0">
                <a:solidFill>
                  <a:srgbClr val="000000"/>
                </a:solidFill>
                <a:latin typeface="Cascadia Code"/>
                <a:ea typeface="Cascadia Code"/>
              </a:rPr>
              <a:t>seoul_living_pop  ·  zip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6384" y="5788152"/>
            <a:ext cx="2724912" cy="32004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100" b="0">
                <a:solidFill>
                  <a:srgbClr val="5E5E5E"/>
                </a:solidFill>
                <a:latin typeface="Pretendard Medium"/>
                <a:ea typeface="Pretendard Medium"/>
              </a:rPr>
              <a:t>KT 시그널링 시간대 인구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617720" y="3346704"/>
            <a:ext cx="2560320" cy="1920240"/>
          </a:xfrm>
          <a:prstGeom prst="roundRect">
            <a:avLst>
              <a:gd name="adj" fmla="val 20000"/>
            </a:avLst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4910328" y="3639312"/>
            <a:ext cx="1975104" cy="29260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spc="240">
                <a:solidFill>
                  <a:srgbClr val="AFAFAF"/>
                </a:solidFill>
                <a:latin typeface="Pretendard"/>
                <a:ea typeface="Pretendard"/>
              </a:rPr>
              <a:t>DERIVED  ·  MASTER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910328" y="3986784"/>
            <a:ext cx="1975104" cy="6400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 spc="-20">
                <a:solidFill>
                  <a:srgbClr val="FFFFFF"/>
                </a:solidFill>
                <a:latin typeface="Cascadia Code"/>
                <a:ea typeface="Cascadia Code"/>
              </a:rPr>
              <a:t>oa_master
.parquet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910328" y="4471416"/>
            <a:ext cx="1975104" cy="5029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100" b="1">
                <a:solidFill>
                  <a:srgbClr val="AFAFAF"/>
                </a:solidFill>
                <a:latin typeface="Pretendard"/>
                <a:ea typeface="Pretendard"/>
              </a:rPr>
              <a:t>19,097 OA  ·  150 cols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3776472" y="3063240"/>
            <a:ext cx="813816" cy="1243584"/>
          </a:xfrm>
          <a:prstGeom prst="line">
            <a:avLst/>
          </a:prstGeom>
          <a:ln w="12700">
            <a:solidFill>
              <a:srgbClr val="4B4B4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3776472" y="4306824"/>
            <a:ext cx="813816" cy="0"/>
          </a:xfrm>
          <a:prstGeom prst="line">
            <a:avLst/>
          </a:prstGeom>
          <a:ln w="12700">
            <a:solidFill>
              <a:srgbClr val="4B4B4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V="1">
            <a:off x="3776472" y="4306824"/>
            <a:ext cx="813816" cy="1243584"/>
          </a:xfrm>
          <a:prstGeom prst="line">
            <a:avLst/>
          </a:prstGeom>
          <a:ln w="12700">
            <a:solidFill>
              <a:srgbClr val="4B4B4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7635240" y="2514600"/>
            <a:ext cx="4007815" cy="3584448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9525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7927848" y="2807208"/>
            <a:ext cx="3422599" cy="29260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spc="240">
                <a:solidFill>
                  <a:srgbClr val="5E5E5E"/>
                </a:solidFill>
                <a:latin typeface="Pretendard"/>
                <a:ea typeface="Pretendard"/>
              </a:rPr>
              <a:t>WHAT'S INSIDE  ·  150 COLS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927848" y="3218688"/>
            <a:ext cx="3422599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1">
                <a:solidFill>
                  <a:srgbClr val="000000"/>
                </a:solidFill>
                <a:latin typeface="Pretendard"/>
                <a:ea typeface="Pretendard"/>
              </a:rPr>
              <a:t>키 · 기하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927848" y="3456432"/>
            <a:ext cx="3422599" cy="5029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100" b="0">
                <a:solidFill>
                  <a:srgbClr val="5E5E5E"/>
                </a:solidFill>
                <a:latin typeface="Cascadia Code"/>
                <a:ea typeface="Cascadia Code"/>
              </a:rPr>
              <a:t>TOT_OA_CD, ADM_CD, block_id
+ geometry, area_m2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927848" y="3950208"/>
            <a:ext cx="3422599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1">
                <a:solidFill>
                  <a:srgbClr val="000000"/>
                </a:solidFill>
                <a:latin typeface="Pretendard"/>
                <a:ea typeface="Pretendard"/>
              </a:rPr>
              <a:t>인구·가구·주택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927848" y="4187952"/>
            <a:ext cx="3422599" cy="5029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100" b="0">
                <a:solidFill>
                  <a:srgbClr val="5E5E5E"/>
                </a:solidFill>
                <a:latin typeface="Cascadia Code"/>
                <a:ea typeface="Cascadia Code"/>
              </a:rPr>
              <a:t>pop_total, hh_count, ho_total ...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927848" y="4681728"/>
            <a:ext cx="3422599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1">
                <a:solidFill>
                  <a:srgbClr val="000000"/>
                </a:solidFill>
                <a:latin typeface="Pretendard"/>
                <a:ea typeface="Pretendard"/>
              </a:rPr>
              <a:t>성연령 81종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927848" y="4919472"/>
            <a:ext cx="3422599" cy="5029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100" b="0">
                <a:solidFill>
                  <a:srgbClr val="5E5E5E"/>
                </a:solidFill>
                <a:latin typeface="Cascadia Code"/>
                <a:ea typeface="Cascadia Code"/>
              </a:rPr>
              <a:t>in_age_M00_04  ...  in_age_F75p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927848" y="5413248"/>
            <a:ext cx="3422599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1">
                <a:solidFill>
                  <a:srgbClr val="000000"/>
                </a:solidFill>
                <a:latin typeface="Pretendard"/>
                <a:ea typeface="Pretendard"/>
              </a:rPr>
              <a:t>LP 시간 풀 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927848" y="5650992"/>
            <a:ext cx="3422599" cy="5029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100" b="0">
                <a:solidFill>
                  <a:srgbClr val="5E5E5E"/>
                </a:solidFill>
                <a:latin typeface="Cascadia Code"/>
                <a:ea typeface="Cascadia Code"/>
              </a:rPr>
              <a:t>resident_02_05 · morning_07_10
midday_11_15 · evening_18_21 ...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spc="240">
                <a:solidFill>
                  <a:srgbClr val="000000"/>
                </a:solidFill>
                <a:latin typeface="Pretendard"/>
                <a:ea typeface="Pretendard"/>
              </a:rPr>
              <a:t>SETUP  ·  IMPORTS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899855" y="292608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100" b="1" spc="240">
                <a:solidFill>
                  <a:srgbClr val="5E5E5E"/>
                </a:solidFill>
                <a:latin typeface="Pretendard"/>
                <a:ea typeface="Pretendard"/>
              </a:rPr>
              <a:t>TAZ STUDIO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6382512"/>
            <a:ext cx="11094415" cy="0"/>
          </a:xfrm>
          <a:prstGeom prst="line">
            <a:avLst/>
          </a:prstGeom>
          <a:ln w="7620">
            <a:solidFill>
              <a:srgbClr val="EEEE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900" b="0">
                <a:solidFill>
                  <a:srgbClr val="5E5E5E"/>
                </a:solidFill>
                <a:latin typeface="Pretendard ExtraLight"/>
                <a:ea typeface="Pretendard ExtraLight"/>
              </a:rPr>
              <a:t>TAZ · Lecture 2 · OA 마스터 구축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900" b="0" spc="50">
                <a:solidFill>
                  <a:srgbClr val="5E5E5E"/>
                </a:solidFill>
                <a:latin typeface="Pretendard ExtraLight"/>
                <a:ea typeface="Pretendard ExtraLight"/>
              </a:rPr>
              <a:t>03 / 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914400"/>
            <a:ext cx="10058400" cy="6400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0" spc="-60">
                <a:solidFill>
                  <a:srgbClr val="000000"/>
                </a:solidFill>
                <a:latin typeface="Pretendard ExtraBold"/>
                <a:ea typeface="Pretendard ExtraBold"/>
              </a:rPr>
              <a:t>환경 설정 + Imports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600200"/>
            <a:ext cx="109728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500" b="0">
                <a:solidFill>
                  <a:srgbClr val="5E5E5E"/>
                </a:solidFill>
                <a:latin typeface="Pretendard Medium"/>
                <a:ea typeface="Pretendard Medium"/>
              </a:rPr>
              <a:t>Lecture 1 과 동일.  RAW / DRV 경로 한 번 정의해 이후 셀에서 재사용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331720"/>
            <a:ext cx="8046720" cy="3931920"/>
          </a:xfrm>
          <a:prstGeom prst="roundRect">
            <a:avLst>
              <a:gd name="adj" fmla="val 8372"/>
            </a:avLst>
          </a:prstGeom>
          <a:solidFill>
            <a:srgbClr val="F3F3F3"/>
          </a:solidFill>
          <a:ln w="6350">
            <a:solidFill>
              <a:srgbClr val="EEEE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22960" y="2423160"/>
            <a:ext cx="749808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1" spc="120">
                <a:solidFill>
                  <a:srgbClr val="5E5E5E"/>
                </a:solidFill>
                <a:latin typeface="Pretendard"/>
                <a:ea typeface="Pretendard"/>
              </a:rPr>
              <a:t>cell · setup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822960" y="2642616"/>
            <a:ext cx="7498080" cy="0"/>
          </a:xfrm>
          <a:prstGeom prst="line">
            <a:avLst/>
          </a:prstGeom>
          <a:ln w="5080">
            <a:solidFill>
              <a:srgbClr val="EEEE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822960" y="2734056"/>
            <a:ext cx="7498080" cy="325526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000000"/>
                </a:solidFill>
                <a:latin typeface="Cascadia Code"/>
                <a:ea typeface="Pretendard Medium"/>
              </a:rPr>
              <a:t>import os, sys, zipfile, warnings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000000"/>
                </a:solidFill>
                <a:latin typeface="Cascadia Code"/>
                <a:ea typeface="Pretendard Medium"/>
              </a:rPr>
              <a:t>import numpy as np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000000"/>
                </a:solidFill>
                <a:latin typeface="Cascadia Code"/>
                <a:ea typeface="Pretendard Medium"/>
              </a:rPr>
              <a:t>import pandas as pd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000000"/>
                </a:solidFill>
                <a:latin typeface="Cascadia Code"/>
                <a:ea typeface="Pretendard Medium"/>
              </a:rPr>
              <a:t>import geopandas as gpd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000000"/>
                </a:solidFill>
                <a:latin typeface="Cascadia Code"/>
                <a:ea typeface="Pretendard Medium"/>
              </a:rPr>
              <a:t>import matplotlib.pyplot as plt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000000"/>
                </a:solidFill>
                <a:latin typeface="Cascadia Code"/>
                <a:ea typeface="Pretendard Medium"/>
              </a:rPr>
              <a:t>warnings.filterwarnings('ignore')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000000"/>
                </a:solidFill>
                <a:latin typeface="Cascadia Code"/>
                <a:ea typeface="Pretendard Medium"/>
              </a:rPr>
              <a:t>%matplotlib inline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000000"/>
                </a:solidFill>
                <a:latin typeface="Cascadia Code"/>
                <a:ea typeface="Pretendard Medium"/>
              </a:rPr>
              <a:t>plt.rcParams['figure.figsize']     = (10, 6)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000000"/>
                </a:solidFill>
                <a:latin typeface="Cascadia Code"/>
                <a:ea typeface="Pretendard Medium"/>
              </a:rPr>
              <a:t>plt.rcParams['font.family']        = 'Malgun Gothic'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000000"/>
                </a:solidFill>
                <a:latin typeface="Cascadia Code"/>
                <a:ea typeface="Pretendard Medium"/>
              </a:rPr>
              <a:t>plt.rcParams['axes.unicode_minus'] = False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000000"/>
                </a:solidFill>
                <a:latin typeface="Cascadia Code"/>
                <a:ea typeface="Pretendard Medium"/>
              </a:rPr>
              <a:t>ROOT = r'F:\research\TAZ'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000000"/>
                </a:solidFill>
                <a:latin typeface="Cascadia Code"/>
                <a:ea typeface="Pretendard Medium"/>
              </a:rPr>
              <a:t>RAW  = os.path.join(ROOT, 'data', 'raw')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000000"/>
                </a:solidFill>
                <a:latin typeface="Cascadia Code"/>
                <a:ea typeface="Pretendard Medium"/>
              </a:rPr>
              <a:t>DRV  = os.path.join(ROOT, 'data', 'derived')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000000"/>
                </a:solidFill>
                <a:latin typeface="Cascadia Code"/>
                <a:ea typeface="Pretendard Medium"/>
              </a:rPr>
              <a:t>print('OK')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869680" y="2331720"/>
            <a:ext cx="2773375" cy="3931920"/>
          </a:xfrm>
          <a:prstGeom prst="roundRect">
            <a:avLst>
              <a:gd name="adj" fmla="val 13847"/>
            </a:avLst>
          </a:prstGeom>
          <a:solidFill>
            <a:srgbClr val="FFFFFF"/>
          </a:solidFill>
          <a:ln w="9525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144000" y="2606040"/>
            <a:ext cx="2224735" cy="29260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spc="240">
                <a:solidFill>
                  <a:srgbClr val="5E5E5E"/>
                </a:solidFill>
                <a:latin typeface="Pretendard"/>
                <a:ea typeface="Pretendard"/>
              </a:rPr>
              <a:t>NOTES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0" y="3063240"/>
            <a:ext cx="128016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1">
                <a:solidFill>
                  <a:srgbClr val="000000"/>
                </a:solidFill>
                <a:latin typeface="Cascadia Code"/>
                <a:ea typeface="Cascadia Code"/>
              </a:rPr>
              <a:t>zipfile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0" y="3319272"/>
            <a:ext cx="2224735" cy="5029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100" b="0">
                <a:solidFill>
                  <a:srgbClr val="5E5E5E"/>
                </a:solidFill>
                <a:latin typeface="Pretendard Medium"/>
                <a:ea typeface="Pretendard Medium"/>
              </a:rPr>
              <a:t>LP 데이터는 zip 안 31일 CSV — 스트리밍 read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0" y="3886200"/>
            <a:ext cx="128016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1">
                <a:solidFill>
                  <a:srgbClr val="000000"/>
                </a:solidFill>
                <a:latin typeface="Cascadia Code"/>
                <a:ea typeface="Cascadia Code"/>
              </a:rPr>
              <a:t>RAW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0" y="4142232"/>
            <a:ext cx="2224735" cy="5029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100" b="0">
                <a:solidFill>
                  <a:srgbClr val="5E5E5E"/>
                </a:solidFill>
                <a:latin typeface="Pretendard Medium"/>
                <a:ea typeface="Pretendard Medium"/>
              </a:rPr>
              <a:t>원본 SGIS / LP / 경계 데이터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0" y="4709160"/>
            <a:ext cx="128016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1">
                <a:solidFill>
                  <a:srgbClr val="000000"/>
                </a:solidFill>
                <a:latin typeface="Cascadia Code"/>
                <a:ea typeface="Cascadia Code"/>
              </a:rPr>
              <a:t>DRV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0" y="4965192"/>
            <a:ext cx="2224735" cy="5029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100" b="0">
                <a:solidFill>
                  <a:srgbClr val="5E5E5E"/>
                </a:solidFill>
                <a:latin typeface="Pretendard Medium"/>
                <a:ea typeface="Pretendard Medium"/>
              </a:rPr>
              <a:t>파생 파일 (oa2016_to_oa2025, oa_master)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0" y="5532120"/>
            <a:ext cx="128016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1">
                <a:solidFill>
                  <a:srgbClr val="000000"/>
                </a:solidFill>
                <a:latin typeface="Cascadia Code"/>
                <a:ea typeface="Cascadia Code"/>
              </a:rPr>
              <a:t>CP949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0" y="5788152"/>
            <a:ext cx="2224735" cy="5029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100" b="0">
                <a:solidFill>
                  <a:srgbClr val="5E5E5E"/>
                </a:solidFill>
                <a:latin typeface="Pretendard Medium"/>
                <a:ea typeface="Pretendard Medium"/>
              </a:rPr>
              <a:t>SGIS · LP CSV 의 한글 인코딩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spc="240">
                <a:solidFill>
                  <a:srgbClr val="000000"/>
                </a:solidFill>
                <a:latin typeface="Pretendard"/>
                <a:ea typeface="Pretendard"/>
              </a:rPr>
              <a:t>SGIS  ·  LONG → WIDE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899855" y="292608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100" b="1" spc="240">
                <a:solidFill>
                  <a:srgbClr val="5E5E5E"/>
                </a:solidFill>
                <a:latin typeface="Pretendard"/>
                <a:ea typeface="Pretendard"/>
              </a:rPr>
              <a:t>TAZ STUDIO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6382512"/>
            <a:ext cx="11094415" cy="0"/>
          </a:xfrm>
          <a:prstGeom prst="line">
            <a:avLst/>
          </a:prstGeom>
          <a:ln w="7620">
            <a:solidFill>
              <a:srgbClr val="EEEE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900" b="0">
                <a:solidFill>
                  <a:srgbClr val="5E5E5E"/>
                </a:solidFill>
                <a:latin typeface="Pretendard ExtraLight"/>
                <a:ea typeface="Pretendard ExtraLight"/>
              </a:rPr>
              <a:t>TAZ · Lecture 2 · OA 마스터 구축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900" b="0" spc="50">
                <a:solidFill>
                  <a:srgbClr val="5E5E5E"/>
                </a:solidFill>
                <a:latin typeface="Pretendard ExtraLight"/>
                <a:ea typeface="Pretendard ExtraLight"/>
              </a:rPr>
              <a:t>04 / 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914400"/>
            <a:ext cx="10058400" cy="6400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0" spc="-60">
                <a:solidFill>
                  <a:srgbClr val="000000"/>
                </a:solidFill>
                <a:latin typeface="Pretendard ExtraBold"/>
                <a:ea typeface="Pretendard ExtraBold"/>
              </a:rPr>
              <a:t>SGIS 인구·가구·주택 — long format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600200"/>
            <a:ext cx="109728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500" b="0">
                <a:solidFill>
                  <a:srgbClr val="5E5E5E"/>
                </a:solidFill>
                <a:latin typeface="Pretendard Medium"/>
                <a:ea typeface="Pretendard Medium"/>
              </a:rPr>
              <a:t>한 OA 가 여러 행 (long) — 분석엔 wide 가 편함.  pivot 한 줄로 변환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331720"/>
            <a:ext cx="6949440" cy="4297680"/>
          </a:xfrm>
          <a:prstGeom prst="roundRect">
            <a:avLst>
              <a:gd name="adj" fmla="val 8936"/>
            </a:avLst>
          </a:prstGeom>
          <a:solidFill>
            <a:srgbClr val="FFFFFF"/>
          </a:solidFill>
          <a:ln w="9525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68680" y="2651760"/>
            <a:ext cx="630936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spc="240">
                <a:solidFill>
                  <a:srgbClr val="5E5E5E"/>
                </a:solidFill>
                <a:latin typeface="Pretendard"/>
                <a:ea typeface="Pretendard"/>
              </a:rPr>
              <a:t>SGIS_CENSUS  ·  10 CSV 구조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3063240"/>
            <a:ext cx="402336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spc="240">
                <a:solidFill>
                  <a:srgbClr val="5E5E5E"/>
                </a:solidFill>
                <a:latin typeface="Pretendard"/>
                <a:ea typeface="Pretendard"/>
              </a:rPr>
              <a:t>FILE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92040" y="3063240"/>
            <a:ext cx="237744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spc="240">
                <a:solidFill>
                  <a:srgbClr val="5E5E5E"/>
                </a:solidFill>
                <a:latin typeface="Pretendard"/>
                <a:ea typeface="Pretendard"/>
              </a:rPr>
              <a:t>ROW FORMAT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868680" y="3410712"/>
            <a:ext cx="6309360" cy="0"/>
          </a:xfrm>
          <a:prstGeom prst="line">
            <a:avLst/>
          </a:prstGeom>
          <a:ln w="7620">
            <a:solidFill>
              <a:srgbClr val="EEEE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868680" y="3447288"/>
            <a:ext cx="402336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100" b="1">
                <a:solidFill>
                  <a:srgbClr val="000000"/>
                </a:solidFill>
                <a:latin typeface="Cascadia Code"/>
                <a:ea typeface="Cascadia Code"/>
              </a:rPr>
              <a:t>11_2024년_인구총괄(총인구).csv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92040" y="3447288"/>
            <a:ext cx="237744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100" b="0">
                <a:solidFill>
                  <a:srgbClr val="5E5E5E"/>
                </a:solidFill>
                <a:latin typeface="Cascadia Code"/>
                <a:ea typeface="Cascadia Code"/>
              </a:rPr>
              <a:t>long: OA × 항목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868680" y="3794760"/>
            <a:ext cx="6309360" cy="0"/>
          </a:xfrm>
          <a:prstGeom prst="line">
            <a:avLst/>
          </a:prstGeom>
          <a:ln w="7620">
            <a:solidFill>
              <a:srgbClr val="EEEE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868680" y="3831336"/>
            <a:ext cx="402336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100" b="1">
                <a:solidFill>
                  <a:srgbClr val="000000"/>
                </a:solidFill>
                <a:latin typeface="Cascadia Code"/>
                <a:ea typeface="Cascadia Code"/>
              </a:rPr>
              <a:t>11_2024년_성연령별인구.csv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92040" y="3831336"/>
            <a:ext cx="237744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100" b="0">
                <a:solidFill>
                  <a:srgbClr val="5E5E5E"/>
                </a:solidFill>
                <a:latin typeface="Cascadia Code"/>
                <a:ea typeface="Cascadia Code"/>
              </a:rPr>
              <a:t>long: OA × 81 성연령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868680" y="4178808"/>
            <a:ext cx="6309360" cy="0"/>
          </a:xfrm>
          <a:prstGeom prst="line">
            <a:avLst/>
          </a:prstGeom>
          <a:ln w="7620">
            <a:solidFill>
              <a:srgbClr val="EEEE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868680" y="4215384"/>
            <a:ext cx="402336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100" b="1">
                <a:solidFill>
                  <a:srgbClr val="000000"/>
                </a:solidFill>
                <a:latin typeface="Cascadia Code"/>
                <a:ea typeface="Cascadia Code"/>
              </a:rPr>
              <a:t>11_2024년_가구총괄.csv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92040" y="4215384"/>
            <a:ext cx="237744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100" b="0">
                <a:solidFill>
                  <a:srgbClr val="5E5E5E"/>
                </a:solidFill>
                <a:latin typeface="Cascadia Code"/>
                <a:ea typeface="Cascadia Code"/>
              </a:rPr>
              <a:t>long: OA × 항목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868680" y="4562856"/>
            <a:ext cx="6309360" cy="0"/>
          </a:xfrm>
          <a:prstGeom prst="line">
            <a:avLst/>
          </a:prstGeom>
          <a:ln w="7620">
            <a:solidFill>
              <a:srgbClr val="EEEE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868680" y="4599432"/>
            <a:ext cx="402336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100" b="1">
                <a:solidFill>
                  <a:srgbClr val="000000"/>
                </a:solidFill>
                <a:latin typeface="Cascadia Code"/>
                <a:ea typeface="Cascadia Code"/>
              </a:rPr>
              <a:t>11_2024년_세대구성별가구.csv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92040" y="4599432"/>
            <a:ext cx="237744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100" b="0">
                <a:solidFill>
                  <a:srgbClr val="5E5E5E"/>
                </a:solidFill>
                <a:latin typeface="Cascadia Code"/>
                <a:ea typeface="Cascadia Code"/>
              </a:rPr>
              <a:t>long: OA × 세대구성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868680" y="4946904"/>
            <a:ext cx="6309360" cy="0"/>
          </a:xfrm>
          <a:prstGeom prst="line">
            <a:avLst/>
          </a:prstGeom>
          <a:ln w="7620">
            <a:solidFill>
              <a:srgbClr val="EEEE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868680" y="4983480"/>
            <a:ext cx="402336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100" b="1">
                <a:solidFill>
                  <a:srgbClr val="000000"/>
                </a:solidFill>
                <a:latin typeface="Cascadia Code"/>
                <a:ea typeface="Cascadia Code"/>
              </a:rPr>
              <a:t>11_2024년_주택총괄.csv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892040" y="4983480"/>
            <a:ext cx="237744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100" b="0">
                <a:solidFill>
                  <a:srgbClr val="5E5E5E"/>
                </a:solidFill>
                <a:latin typeface="Cascadia Code"/>
                <a:ea typeface="Cascadia Code"/>
              </a:rPr>
              <a:t>long: OA × 항목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868680" y="5330952"/>
            <a:ext cx="6309360" cy="0"/>
          </a:xfrm>
          <a:prstGeom prst="line">
            <a:avLst/>
          </a:prstGeom>
          <a:ln w="7620">
            <a:solidFill>
              <a:srgbClr val="EEEE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868680" y="5367528"/>
            <a:ext cx="402336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100" b="1">
                <a:solidFill>
                  <a:srgbClr val="000000"/>
                </a:solidFill>
                <a:latin typeface="Cascadia Code"/>
                <a:ea typeface="Cascadia Code"/>
              </a:rPr>
              <a:t>...  (총 10개 CSV)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892040" y="5367528"/>
            <a:ext cx="237744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100" b="0">
                <a:solidFill>
                  <a:srgbClr val="5E5E5E"/>
                </a:solidFill>
                <a:latin typeface="Cascadia Code"/>
                <a:ea typeface="Cascadia Code"/>
              </a:rPr>
              <a:t/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772400" y="2331720"/>
            <a:ext cx="3870655" cy="2057400"/>
          </a:xfrm>
          <a:prstGeom prst="roundRect">
            <a:avLst>
              <a:gd name="adj" fmla="val 18666"/>
            </a:avLst>
          </a:prstGeom>
          <a:solidFill>
            <a:srgbClr val="EFEF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8010144" y="2569464"/>
            <a:ext cx="3395167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spc="240">
                <a:solidFill>
                  <a:srgbClr val="5E5E5E"/>
                </a:solidFill>
                <a:latin typeface="Pretendard"/>
                <a:ea typeface="Pretendard"/>
              </a:rPr>
              <a:t>LONG  ·  raw format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010144" y="2843784"/>
            <a:ext cx="3395167" cy="4114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1" spc="0">
                <a:solidFill>
                  <a:srgbClr val="000000"/>
                </a:solidFill>
                <a:latin typeface="Pretendard"/>
                <a:ea typeface="Pretendard"/>
              </a:rPr>
              <a:t>한 OA = 여러 행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010144" y="3227832"/>
            <a:ext cx="3395167" cy="10972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100" b="0">
                <a:solidFill>
                  <a:srgbClr val="5E5E5E"/>
                </a:solidFill>
                <a:latin typeface="Pretendard Medium"/>
                <a:ea typeface="Pretendard Medium"/>
              </a:rPr>
              <a:t>연도 · OA · 항목코드 · 값
각 항목마다 한 row.
→ 항목별 비교가 불편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772400" y="4572000"/>
            <a:ext cx="3870655" cy="2057400"/>
          </a:xfrm>
          <a:prstGeom prst="roundRect">
            <a:avLst>
              <a:gd name="adj" fmla="val 18666"/>
            </a:avLst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8010144" y="4809744"/>
            <a:ext cx="3395167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spc="240">
                <a:solidFill>
                  <a:srgbClr val="AFAFAF"/>
                </a:solidFill>
                <a:latin typeface="Pretendard"/>
                <a:ea typeface="Pretendard"/>
              </a:rPr>
              <a:t>WIDE  ·  분석 표준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010144" y="5084064"/>
            <a:ext cx="3395167" cy="4114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1" spc="0">
                <a:solidFill>
                  <a:srgbClr val="FFFFFF"/>
                </a:solidFill>
                <a:latin typeface="Pretendard"/>
                <a:ea typeface="Pretendard"/>
              </a:rPr>
              <a:t>한 OA = 한 행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010144" y="5468112"/>
            <a:ext cx="3395167" cy="12801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AFAFAF"/>
                </a:solidFill>
                <a:latin typeface="Cascadia Code"/>
                <a:ea typeface="Cascadia Code"/>
              </a:rPr>
              <a:t>pivot(index=oa_cd,
     columns=item_cd,
     values=value)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spc="240">
                <a:solidFill>
                  <a:srgbClr val="000000"/>
                </a:solidFill>
                <a:latin typeface="Pretendard"/>
                <a:ea typeface="Pretendard"/>
              </a:rPr>
              <a:t>SGIS  ·  PIVOT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899855" y="292608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100" b="1" spc="240">
                <a:solidFill>
                  <a:srgbClr val="5E5E5E"/>
                </a:solidFill>
                <a:latin typeface="Pretendard"/>
                <a:ea typeface="Pretendard"/>
              </a:rPr>
              <a:t>TAZ STUDIO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6382512"/>
            <a:ext cx="11094415" cy="0"/>
          </a:xfrm>
          <a:prstGeom prst="line">
            <a:avLst/>
          </a:prstGeom>
          <a:ln w="7620">
            <a:solidFill>
              <a:srgbClr val="EEEE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900" b="0">
                <a:solidFill>
                  <a:srgbClr val="5E5E5E"/>
                </a:solidFill>
                <a:latin typeface="Pretendard ExtraLight"/>
                <a:ea typeface="Pretendard ExtraLight"/>
              </a:rPr>
              <a:t>TAZ · Lecture 2 · OA 마스터 구축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900" b="0" spc="50">
                <a:solidFill>
                  <a:srgbClr val="5E5E5E"/>
                </a:solidFill>
                <a:latin typeface="Pretendard ExtraLight"/>
                <a:ea typeface="Pretendard ExtraLight"/>
              </a:rPr>
              <a:t>05 / 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914400"/>
            <a:ext cx="10058400" cy="6400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0" spc="-60">
                <a:solidFill>
                  <a:srgbClr val="000000"/>
                </a:solidFill>
                <a:latin typeface="Pretendard ExtraBold"/>
                <a:ea typeface="Pretendard ExtraBold"/>
              </a:rPr>
              <a:t>SGIS 인구총괄 — 헤더 없는 CSV 로 시작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600200"/>
            <a:ext cx="109728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500" b="0">
                <a:solidFill>
                  <a:srgbClr val="5E5E5E"/>
                </a:solidFill>
                <a:latin typeface="Pretendard Medium"/>
                <a:ea typeface="Pretendard Medium"/>
              </a:rPr>
              <a:t>read_csv (cp949, header=None) → to_numeric → pivot_table 한 줄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331720"/>
            <a:ext cx="8046720" cy="4297680"/>
          </a:xfrm>
          <a:prstGeom prst="roundRect">
            <a:avLst>
              <a:gd name="adj" fmla="val 7659"/>
            </a:avLst>
          </a:prstGeom>
          <a:solidFill>
            <a:srgbClr val="F3F3F3"/>
          </a:solidFill>
          <a:ln w="6350">
            <a:solidFill>
              <a:srgbClr val="EEEE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22960" y="2423160"/>
            <a:ext cx="749808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1" spc="120">
                <a:solidFill>
                  <a:srgbClr val="5E5E5E"/>
                </a:solidFill>
                <a:latin typeface="Pretendard"/>
                <a:ea typeface="Pretendard"/>
              </a:rPr>
              <a:t>cell · sgis pivot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822960" y="2642616"/>
            <a:ext cx="7498080" cy="0"/>
          </a:xfrm>
          <a:prstGeom prst="line">
            <a:avLst/>
          </a:prstGeom>
          <a:ln w="5080">
            <a:solidFill>
              <a:srgbClr val="EEEE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822960" y="2734056"/>
            <a:ext cx="7498080" cy="362102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000000"/>
                </a:solidFill>
                <a:latin typeface="Cascadia Code"/>
                <a:ea typeface="Pretendard Medium"/>
              </a:rPr>
              <a:t># 헤더 없는 CSV — 컬럼: 연도, OA 코드, 항목 코드, 값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000000"/>
                </a:solidFill>
                <a:latin typeface="Cascadia Code"/>
                <a:ea typeface="Pretendard Medium"/>
              </a:rPr>
              <a:t>pop = pd.read_csv(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000000"/>
                </a:solidFill>
                <a:latin typeface="Cascadia Code"/>
                <a:ea typeface="Pretendard Medium"/>
              </a:rPr>
              <a:t>    os.path.join(RAW, 'sgis_census',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000000"/>
                </a:solidFill>
                <a:latin typeface="Cascadia Code"/>
                <a:ea typeface="Pretendard Medium"/>
              </a:rPr>
              <a:t>                 '11_2024년_인구총괄(총인구).csv'),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000000"/>
                </a:solidFill>
                <a:latin typeface="Cascadia Code"/>
                <a:ea typeface="Pretendard Medium"/>
              </a:rPr>
              <a:t>    encoding='cp949', header=None,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000000"/>
                </a:solidFill>
                <a:latin typeface="Cascadia Code"/>
                <a:ea typeface="Pretendard Medium"/>
              </a:rPr>
              <a:t>    names=['year', 'oa_cd', 'item_cd', 'value'])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000000"/>
                </a:solidFill>
                <a:latin typeface="Cascadia Code"/>
                <a:ea typeface="Pretendard Medium"/>
              </a:rPr>
              <a:t>print(f'shape : {pop.shape}')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000000"/>
                </a:solidFill>
                <a:latin typeface="Cascadia Code"/>
                <a:ea typeface="Pretendard Medium"/>
              </a:rPr>
              <a:t># 'N/A' (통계 보호) → NaN (0 으로 채우면 안 됨)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000000"/>
                </a:solidFill>
                <a:latin typeface="Cascadia Code"/>
                <a:ea typeface="Pretendard Medium"/>
              </a:rPr>
              <a:t>pop['value'] = pd.to_numeric(pop['value'], errors='coerce')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000000"/>
                </a:solidFill>
                <a:latin typeface="Cascadia Code"/>
                <a:ea typeface="Pretendard Medium"/>
              </a:rPr>
              <a:t># long → wide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000000"/>
                </a:solidFill>
                <a:latin typeface="Cascadia Code"/>
                <a:ea typeface="Pretendard Medium"/>
              </a:rPr>
              <a:t>wide = pop.pivot_table(index='oa_cd', columns='item_cd',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000000"/>
                </a:solidFill>
                <a:latin typeface="Cascadia Code"/>
                <a:ea typeface="Pretendard Medium"/>
              </a:rPr>
              <a:t>                       values='value', aggfunc='first')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000000"/>
                </a:solidFill>
                <a:latin typeface="Cascadia Code"/>
                <a:ea typeface="Pretendard Medium"/>
              </a:rPr>
              <a:t>print(f'wide shape : {wide.shape}')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869680" y="2331720"/>
            <a:ext cx="2773375" cy="4297680"/>
          </a:xfrm>
          <a:prstGeom prst="roundRect">
            <a:avLst>
              <a:gd name="adj" fmla="val 13847"/>
            </a:avLst>
          </a:prstGeom>
          <a:solidFill>
            <a:srgbClr val="FFFFFF"/>
          </a:solidFill>
          <a:ln w="9525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144000" y="2606040"/>
            <a:ext cx="2224735" cy="29260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spc="240">
                <a:solidFill>
                  <a:srgbClr val="5E5E5E"/>
                </a:solidFill>
                <a:latin typeface="Pretendard"/>
                <a:ea typeface="Pretendard"/>
              </a:rPr>
              <a:t>WHY 'N/A' ≠ 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0" y="2971800"/>
            <a:ext cx="2224735" cy="7315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1" spc="0">
                <a:solidFill>
                  <a:srgbClr val="000000"/>
                </a:solidFill>
                <a:latin typeface="Pretendard"/>
                <a:ea typeface="Pretendard"/>
              </a:rPr>
              <a:t>통계 보호로
인구 작은 OA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0" y="4023360"/>
            <a:ext cx="2224735" cy="2286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100" b="0">
                <a:solidFill>
                  <a:srgbClr val="5E5E5E"/>
                </a:solidFill>
                <a:latin typeface="Pretendard Medium"/>
                <a:ea typeface="Pretendard Medium"/>
              </a:rPr>
              <a:t>SGIS 는 인구가 너무 적은 OA 의
수치를 'N/A' 로 마스킹 (노출 위험).
fillna(0) 으로 채우면
→ '비어있음' 과 '0명' 을 혼동.
errors='coerce' 로 안전하게
NaN 유지 — pivot 후에도 보존.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spc="240">
                <a:solidFill>
                  <a:srgbClr val="000000"/>
                </a:solidFill>
                <a:latin typeface="Pretendard"/>
                <a:ea typeface="Pretendard"/>
              </a:rPr>
              <a:t>LOCAL_PEOPLE  ·  INTRO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899855" y="292608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100" b="1" spc="240">
                <a:solidFill>
                  <a:srgbClr val="5E5E5E"/>
                </a:solidFill>
                <a:latin typeface="Pretendard"/>
                <a:ea typeface="Pretendard"/>
              </a:rPr>
              <a:t>TAZ STUDIO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6382512"/>
            <a:ext cx="11094415" cy="0"/>
          </a:xfrm>
          <a:prstGeom prst="line">
            <a:avLst/>
          </a:prstGeom>
          <a:ln w="7620">
            <a:solidFill>
              <a:srgbClr val="EEEE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900" b="0">
                <a:solidFill>
                  <a:srgbClr val="5E5E5E"/>
                </a:solidFill>
                <a:latin typeface="Pretendard ExtraLight"/>
                <a:ea typeface="Pretendard ExtraLight"/>
              </a:rPr>
              <a:t>TAZ · Lecture 2 · OA 마스터 구축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900" b="0" spc="50">
                <a:solidFill>
                  <a:srgbClr val="5E5E5E"/>
                </a:solidFill>
                <a:latin typeface="Pretendard ExtraLight"/>
                <a:ea typeface="Pretendard ExtraLight"/>
              </a:rPr>
              <a:t>06 / 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914400"/>
            <a:ext cx="10058400" cy="6400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0" spc="-60">
                <a:solidFill>
                  <a:srgbClr val="000000"/>
                </a:solidFill>
                <a:latin typeface="Pretendard ExtraBold"/>
                <a:ea typeface="Pretendard ExtraBold"/>
              </a:rPr>
              <a:t>LOCAL_PEOPLE — 시간대별 생활인구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600200"/>
            <a:ext cx="109728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500" b="0">
                <a:solidFill>
                  <a:srgbClr val="5E5E5E"/>
                </a:solidFill>
                <a:latin typeface="Pretendard Medium"/>
                <a:ea typeface="Pretendard Medium"/>
              </a:rPr>
              <a:t>KT 휴대전화 시그널링 → OA 단위 시간대별 추정 인구  ·  서울 열린데이터 광장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377440"/>
            <a:ext cx="2606040" cy="1371600"/>
          </a:xfrm>
          <a:prstGeom prst="roundRect">
            <a:avLst>
              <a:gd name="adj" fmla="val 28000"/>
            </a:avLst>
          </a:prstGeom>
          <a:solidFill>
            <a:srgbClr val="EFEF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777240" y="2606040"/>
            <a:ext cx="214884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spc="240">
                <a:solidFill>
                  <a:srgbClr val="5E5E5E"/>
                </a:solidFill>
                <a:latin typeface="Pretendard"/>
                <a:ea typeface="Pretendard"/>
              </a:rPr>
              <a:t>출처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880360"/>
            <a:ext cx="214884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1" spc="-20">
                <a:solidFill>
                  <a:srgbClr val="000000"/>
                </a:solidFill>
                <a:latin typeface="Cascadia Code"/>
                <a:ea typeface="Cascadia Code"/>
              </a:rPr>
              <a:t>data.seoul.go.kr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3383280"/>
            <a:ext cx="214884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100" b="0">
                <a:solidFill>
                  <a:srgbClr val="5E5E5E"/>
                </a:solidFill>
                <a:latin typeface="Pretendard Medium"/>
                <a:ea typeface="Pretendard Medium"/>
              </a:rPr>
              <a:t>서울 열린데이터 광장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37560" y="2377440"/>
            <a:ext cx="2606040" cy="1371600"/>
          </a:xfrm>
          <a:prstGeom prst="roundRect">
            <a:avLst>
              <a:gd name="adj" fmla="val 28000"/>
            </a:avLst>
          </a:prstGeom>
          <a:solidFill>
            <a:srgbClr val="EFEF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3566160" y="2606040"/>
            <a:ext cx="214884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spc="240">
                <a:solidFill>
                  <a:srgbClr val="5E5E5E"/>
                </a:solidFill>
                <a:latin typeface="Pretendard"/>
                <a:ea typeface="Pretendard"/>
              </a:rPr>
              <a:t>방법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66160" y="2880360"/>
            <a:ext cx="214884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1" spc="-20">
                <a:solidFill>
                  <a:srgbClr val="000000"/>
                </a:solidFill>
                <a:latin typeface="Cascadia Code"/>
                <a:ea typeface="Cascadia Code"/>
              </a:rPr>
              <a:t>KT 시그널링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0" y="3383280"/>
            <a:ext cx="214884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100" b="0">
                <a:solidFill>
                  <a:srgbClr val="5E5E5E"/>
                </a:solidFill>
                <a:latin typeface="Pretendard Medium"/>
                <a:ea typeface="Pretendard Medium"/>
              </a:rPr>
              <a:t>휴대전화 → OA 시간 인구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26480" y="2377440"/>
            <a:ext cx="2606040" cy="1371600"/>
          </a:xfrm>
          <a:prstGeom prst="roundRect">
            <a:avLst>
              <a:gd name="adj" fmla="val 28000"/>
            </a:avLst>
          </a:prstGeom>
          <a:solidFill>
            <a:srgbClr val="EFEF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6355080" y="2606040"/>
            <a:ext cx="214884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spc="240">
                <a:solidFill>
                  <a:srgbClr val="5E5E5E"/>
                </a:solidFill>
                <a:latin typeface="Pretendard"/>
                <a:ea typeface="Pretendard"/>
              </a:rPr>
              <a:t>형식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55080" y="2880360"/>
            <a:ext cx="214884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1" spc="-20">
                <a:solidFill>
                  <a:srgbClr val="000000"/>
                </a:solidFill>
                <a:latin typeface="Cascadia Code"/>
                <a:ea typeface="Cascadia Code"/>
              </a:rPr>
              <a:t>zip · 31 CSV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55080" y="3383280"/>
            <a:ext cx="214884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100" b="0">
                <a:solidFill>
                  <a:srgbClr val="5E5E5E"/>
                </a:solidFill>
                <a:latin typeface="Pretendard Medium"/>
                <a:ea typeface="Pretendard Medium"/>
              </a:rPr>
              <a:t>12월 한달, 일별 분할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915400" y="2377440"/>
            <a:ext cx="2606040" cy="1371600"/>
          </a:xfrm>
          <a:prstGeom prst="roundRect">
            <a:avLst>
              <a:gd name="adj" fmla="val 28000"/>
            </a:avLst>
          </a:prstGeom>
          <a:solidFill>
            <a:srgbClr val="EFEF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144000" y="2606040"/>
            <a:ext cx="214884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spc="240">
                <a:solidFill>
                  <a:srgbClr val="5E5E5E"/>
                </a:solidFill>
                <a:latin typeface="Pretendard"/>
                <a:ea typeface="Pretendard"/>
              </a:rPr>
              <a:t>크기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0" y="2880360"/>
            <a:ext cx="214884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1" spc="-20">
                <a:solidFill>
                  <a:srgbClr val="000000"/>
                </a:solidFill>
                <a:latin typeface="Cascadia Code"/>
                <a:ea typeface="Cascadia Code"/>
              </a:rPr>
              <a:t>3.7 GB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0" y="3383280"/>
            <a:ext cx="214884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100" b="0">
                <a:solidFill>
                  <a:srgbClr val="5E5E5E"/>
                </a:solidFill>
                <a:latin typeface="Pretendard Medium"/>
                <a:ea typeface="Pretendard Medium"/>
              </a:rPr>
              <a:t>CSV 한 개 ≈ 126 MB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48640" y="4023360"/>
            <a:ext cx="5455767" cy="2194560"/>
          </a:xfrm>
          <a:prstGeom prst="roundRect">
            <a:avLst>
              <a:gd name="adj" fmla="val 17500"/>
            </a:avLst>
          </a:prstGeom>
          <a:solidFill>
            <a:srgbClr val="FFFFFF"/>
          </a:solidFill>
          <a:ln w="9525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22960" y="4297680"/>
            <a:ext cx="4907127" cy="29260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spc="240">
                <a:solidFill>
                  <a:srgbClr val="5E5E5E"/>
                </a:solidFill>
                <a:latin typeface="Pretendard"/>
                <a:ea typeface="Pretendard"/>
              </a:rPr>
              <a:t>WIDE FORMAT  ·  28 COLS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" y="4626864"/>
            <a:ext cx="4907127" cy="4572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1" spc="0">
                <a:solidFill>
                  <a:srgbClr val="000000"/>
                </a:solidFill>
                <a:latin typeface="Pretendard"/>
                <a:ea typeface="Pretendard"/>
              </a:rPr>
              <a:t>한 행 = 한 OA × 한 시간대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" y="5074920"/>
            <a:ext cx="4907127" cy="25603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100" b="0">
                <a:solidFill>
                  <a:srgbClr val="5E5E5E"/>
                </a:solidFill>
                <a:latin typeface="Cascadia Code"/>
                <a:ea typeface="Cascadia Code"/>
              </a:rPr>
              <a:t>기준일ID · 시간대구분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60" y="5330952"/>
            <a:ext cx="4907127" cy="25603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100" b="0">
                <a:solidFill>
                  <a:srgbClr val="5E5E5E"/>
                </a:solidFill>
                <a:latin typeface="Cascadia Code"/>
                <a:ea typeface="Cascadia Code"/>
              </a:rPr>
              <a:t>집계구코드(13) · 행정동코드(8)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" y="5586984"/>
            <a:ext cx="4907127" cy="25603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100" b="0">
                <a:solidFill>
                  <a:srgbClr val="5E5E5E"/>
                </a:solidFill>
                <a:latin typeface="Cascadia Code"/>
                <a:ea typeface="Cascadia Code"/>
              </a:rPr>
              <a:t>총생활인구수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2960" y="5843016"/>
            <a:ext cx="4907127" cy="25603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100" b="0">
                <a:solidFill>
                  <a:srgbClr val="5E5E5E"/>
                </a:solidFill>
                <a:latin typeface="Cascadia Code"/>
                <a:ea typeface="Cascadia Code"/>
              </a:rPr>
              <a:t>남자 0-9세인구 ... 여자 70+세인구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2960" y="6099048"/>
            <a:ext cx="4907127" cy="25603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100" b="0">
                <a:solidFill>
                  <a:srgbClr val="5E5E5E"/>
                </a:solidFill>
                <a:latin typeface="Cascadia Code"/>
                <a:ea typeface="Cascadia Code"/>
              </a:rPr>
              <a:t>  (성연령 14 × 2 = 28 컬럼)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187287" y="4023360"/>
            <a:ext cx="5455767" cy="2194560"/>
          </a:xfrm>
          <a:prstGeom prst="roundRect">
            <a:avLst>
              <a:gd name="adj" fmla="val 17500"/>
            </a:avLst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6461607" y="4297680"/>
            <a:ext cx="4907127" cy="29260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spc="240">
                <a:solidFill>
                  <a:srgbClr val="AFAFAF"/>
                </a:solidFill>
                <a:latin typeface="Pretendard"/>
                <a:ea typeface="Pretendard"/>
              </a:rPr>
              <a:t>SCALE  ·  14 M 행/월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61607" y="4626864"/>
            <a:ext cx="4907127" cy="6400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1" spc="-20">
                <a:solidFill>
                  <a:srgbClr val="FFFFFF"/>
                </a:solidFill>
                <a:latin typeface="Cascadia Code"/>
                <a:ea typeface="Cascadia Code"/>
              </a:rPr>
              <a:t>31일 × 24시간 × 19,000 OA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61607" y="5303520"/>
            <a:ext cx="4907127" cy="9144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100" b="0">
                <a:solidFill>
                  <a:srgbClr val="AFAFAF"/>
                </a:solidFill>
                <a:latin typeface="Pretendard Medium"/>
                <a:ea typeface="Pretendard Medium"/>
              </a:rPr>
              <a:t>→ 약 14 M 행 / 월
→ 일 단위 스트리밍 read 가
   메모리 안전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spc="240">
                <a:solidFill>
                  <a:srgbClr val="000000"/>
                </a:solidFill>
                <a:latin typeface="Pretendard"/>
                <a:ea typeface="Pretendard"/>
              </a:rPr>
              <a:t>LOCAL_PEOPLE  ·  LOAD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899855" y="292608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100" b="1" spc="240">
                <a:solidFill>
                  <a:srgbClr val="5E5E5E"/>
                </a:solidFill>
                <a:latin typeface="Pretendard"/>
                <a:ea typeface="Pretendard"/>
              </a:rPr>
              <a:t>TAZ STUDIO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6382512"/>
            <a:ext cx="11094415" cy="0"/>
          </a:xfrm>
          <a:prstGeom prst="line">
            <a:avLst/>
          </a:prstGeom>
          <a:ln w="7620">
            <a:solidFill>
              <a:srgbClr val="EEEE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900" b="0">
                <a:solidFill>
                  <a:srgbClr val="5E5E5E"/>
                </a:solidFill>
                <a:latin typeface="Pretendard ExtraLight"/>
                <a:ea typeface="Pretendard ExtraLight"/>
              </a:rPr>
              <a:t>TAZ · Lecture 2 · OA 마스터 구축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900" b="0" spc="50">
                <a:solidFill>
                  <a:srgbClr val="5E5E5E"/>
                </a:solidFill>
                <a:latin typeface="Pretendard ExtraLight"/>
                <a:ea typeface="Pretendard ExtraLight"/>
              </a:rPr>
              <a:t>07 / 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914400"/>
            <a:ext cx="10058400" cy="6400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0" spc="-60">
                <a:solidFill>
                  <a:srgbClr val="000000"/>
                </a:solidFill>
                <a:latin typeface="Pretendard ExtraBold"/>
                <a:ea typeface="Pretendard ExtraBold"/>
              </a:rPr>
              <a:t>LP zip 스트리밍 — 12월 1일 한 파일만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600200"/>
            <a:ext cx="109728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500" b="0">
                <a:solidFill>
                  <a:srgbClr val="5E5E5E"/>
                </a:solidFill>
                <a:latin typeface="Pretendard Medium"/>
                <a:ea typeface="Pretendard Medium"/>
              </a:rPr>
              <a:t>zip 전체 풀지 말고 zipfile.open 으로 일별 CSV 만 read — 126 MB 만 메모리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331720"/>
            <a:ext cx="8046720" cy="3291840"/>
          </a:xfrm>
          <a:prstGeom prst="roundRect">
            <a:avLst>
              <a:gd name="adj" fmla="val 10000"/>
            </a:avLst>
          </a:prstGeom>
          <a:solidFill>
            <a:srgbClr val="F3F3F3"/>
          </a:solidFill>
          <a:ln w="6350">
            <a:solidFill>
              <a:srgbClr val="EEEE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22960" y="2423160"/>
            <a:ext cx="749808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1" spc="120">
                <a:solidFill>
                  <a:srgbClr val="5E5E5E"/>
                </a:solidFill>
                <a:latin typeface="Pretendard"/>
                <a:ea typeface="Pretendard"/>
              </a:rPr>
              <a:t>cell · zip stream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822960" y="2642616"/>
            <a:ext cx="7498080" cy="0"/>
          </a:xfrm>
          <a:prstGeom prst="line">
            <a:avLst/>
          </a:prstGeom>
          <a:ln w="5080">
            <a:solidFill>
              <a:srgbClr val="EEEE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822960" y="2734056"/>
            <a:ext cx="7498080" cy="261518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000000"/>
                </a:solidFill>
                <a:latin typeface="Cascadia Code"/>
                <a:ea typeface="Pretendard Medium"/>
              </a:rPr>
              <a:t>lp_zip = os.path.join(RAW, 'seoul_living_pop',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000000"/>
                </a:solidFill>
                <a:latin typeface="Cascadia Code"/>
                <a:ea typeface="Pretendard Medium"/>
              </a:rPr>
              <a:t>                      'LOCAL_PEOPLE_202412.zip')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000000"/>
                </a:solidFill>
                <a:latin typeface="Cascadia Code"/>
                <a:ea typeface="Pretendard Medium"/>
              </a:rPr>
              <a:t>with zipfile.ZipFile(lp_zip) as z: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000000"/>
                </a:solidFill>
                <a:latin typeface="Cascadia Code"/>
                <a:ea typeface="Pretendard Medium"/>
              </a:rPr>
              <a:t>    names = sorted(n for n in z.namelist() if n.endswith('.csv'))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000000"/>
                </a:solidFill>
                <a:latin typeface="Cascadia Code"/>
                <a:ea typeface="Pretendard Medium"/>
              </a:rPr>
              <a:t>    print(f'zip 내 파일 : {len(names)}개 (일별)')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000000"/>
                </a:solidFill>
                <a:latin typeface="Cascadia Code"/>
                <a:ea typeface="Pretendard Medium"/>
              </a:rPr>
              <a:t>    # 하나만 읽기 (12월 1일)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000000"/>
                </a:solidFill>
                <a:latin typeface="Cascadia Code"/>
                <a:ea typeface="Pretendard Medium"/>
              </a:rPr>
              <a:t>    with z.open(names[0]) as f: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000000"/>
                </a:solidFill>
                <a:latin typeface="Cascadia Code"/>
                <a:ea typeface="Pretendard Medium"/>
              </a:rPr>
              <a:t>        lp = pd.read_csv(f, encoding='cp949')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000000"/>
                </a:solidFill>
                <a:latin typeface="Cascadia Code"/>
                <a:ea typeface="Pretendard Medium"/>
              </a:rPr>
              <a:t>print(f'한 파일 shape : {lp.shape}')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000000"/>
                </a:solidFill>
                <a:latin typeface="Cascadia Code"/>
                <a:ea typeface="Pretendard Medium"/>
              </a:rPr>
              <a:t>print(f'  = 24h × 19,152 OA = {24 * 19152}')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000000"/>
                </a:solidFill>
                <a:latin typeface="Cascadia Code"/>
                <a:ea typeface="Pretendard Medium"/>
              </a:rPr>
              <a:t>print(f'컬럼 (앞 5)   : {list(lp.columns[:5])}')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5760720"/>
            <a:ext cx="8046720" cy="868680"/>
          </a:xfrm>
          <a:prstGeom prst="roundRect">
            <a:avLst>
              <a:gd name="adj" fmla="val 37894"/>
            </a:avLst>
          </a:prstGeom>
          <a:solidFill>
            <a:srgbClr val="F3F3F3"/>
          </a:solidFill>
          <a:ln w="6350">
            <a:solidFill>
              <a:srgbClr val="EEEE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22960" y="5852160"/>
            <a:ext cx="749808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1" spc="120">
                <a:solidFill>
                  <a:srgbClr val="5E5E5E"/>
                </a:solidFill>
                <a:latin typeface="Pretendard"/>
                <a:ea typeface="Pretendard"/>
              </a:rPr>
              <a:t>output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822960" y="6071616"/>
            <a:ext cx="7498080" cy="0"/>
          </a:xfrm>
          <a:prstGeom prst="line">
            <a:avLst/>
          </a:prstGeom>
          <a:ln w="5080">
            <a:solidFill>
              <a:srgbClr val="EEEE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822960" y="6163056"/>
            <a:ext cx="7498080" cy="19202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000000"/>
                </a:solidFill>
                <a:latin typeface="Cascadia Code"/>
                <a:ea typeface="Pretendard Medium"/>
              </a:rPr>
              <a:t>zip 내 파일 : 31개 (일별)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000000"/>
                </a:solidFill>
                <a:latin typeface="Cascadia Code"/>
                <a:ea typeface="Pretendard Medium"/>
              </a:rPr>
              <a:t>한 파일 shape : (459,648, 32)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000000"/>
                </a:solidFill>
                <a:latin typeface="Cascadia Code"/>
                <a:ea typeface="Pretendard Medium"/>
              </a:rPr>
              <a:t>  = 24h × 19,152 OA = 459,648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000000"/>
                </a:solidFill>
                <a:latin typeface="Cascadia Code"/>
                <a:ea typeface="Pretendard Medium"/>
              </a:rPr>
              <a:t>컬럼 (앞 5) : ['기준일ID', '시간대구분',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000000"/>
                </a:solidFill>
                <a:latin typeface="Cascadia Code"/>
                <a:ea typeface="Pretendard Medium"/>
              </a:rPr>
              <a:t>             '집계구코드', '행정동코드', '총생활인구수']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869680" y="2331720"/>
            <a:ext cx="2773375" cy="4297680"/>
          </a:xfrm>
          <a:prstGeom prst="roundRect">
            <a:avLst>
              <a:gd name="adj" fmla="val 13847"/>
            </a:avLst>
          </a:prstGeom>
          <a:solidFill>
            <a:srgbClr val="FFFFFF"/>
          </a:solidFill>
          <a:ln w="9525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9125712" y="2587752"/>
            <a:ext cx="2261311" cy="29260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spc="240">
                <a:solidFill>
                  <a:srgbClr val="5E5E5E"/>
                </a:solidFill>
                <a:latin typeface="Pretendard"/>
                <a:ea typeface="Pretendard"/>
              </a:rPr>
              <a:t>FLOW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25712" y="2999232"/>
            <a:ext cx="320040" cy="54864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1" spc="-20">
                <a:solidFill>
                  <a:srgbClr val="000000"/>
                </a:solidFill>
                <a:latin typeface="Pretendard"/>
                <a:ea typeface="Pretendard"/>
              </a:rPr>
              <a:t>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91472" y="2999232"/>
            <a:ext cx="1895551" cy="25603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1">
                <a:solidFill>
                  <a:srgbClr val="000000"/>
                </a:solidFill>
                <a:latin typeface="Cascadia Code"/>
                <a:ea typeface="Cascadia Code"/>
              </a:rPr>
              <a:t>ZipFile open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91472" y="3246120"/>
            <a:ext cx="1895551" cy="6400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100" b="0">
                <a:solidFill>
                  <a:srgbClr val="5E5E5E"/>
                </a:solidFill>
                <a:latin typeface="Pretendard Medium"/>
                <a:ea typeface="Pretendard Medium"/>
              </a:rPr>
              <a:t>3.7 GB zip 을 풀지 않고 read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25712" y="3867912"/>
            <a:ext cx="320040" cy="54864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1" spc="-20">
                <a:solidFill>
                  <a:srgbClr val="000000"/>
                </a:solidFill>
                <a:latin typeface="Pretendard"/>
                <a:ea typeface="Pretendard"/>
              </a:rP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491472" y="3867912"/>
            <a:ext cx="1895551" cy="25603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1">
                <a:solidFill>
                  <a:srgbClr val="000000"/>
                </a:solidFill>
                <a:latin typeface="Cascadia Code"/>
                <a:ea typeface="Cascadia Code"/>
              </a:rPr>
              <a:t>namelist()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491472" y="4114800"/>
            <a:ext cx="1895551" cy="6400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100" b="0">
                <a:solidFill>
                  <a:srgbClr val="5E5E5E"/>
                </a:solidFill>
                <a:latin typeface="Pretendard Medium"/>
                <a:ea typeface="Pretendard Medium"/>
              </a:rPr>
              <a:t>31 일별 CSV 이름만 추출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25712" y="4736592"/>
            <a:ext cx="320040" cy="54864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1" spc="-20">
                <a:solidFill>
                  <a:srgbClr val="000000"/>
                </a:solidFill>
                <a:latin typeface="Pretendard"/>
                <a:ea typeface="Pretendard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91472" y="4736592"/>
            <a:ext cx="1895551" cy="25603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1">
                <a:solidFill>
                  <a:srgbClr val="000000"/>
                </a:solidFill>
                <a:latin typeface="Cascadia Code"/>
                <a:ea typeface="Cascadia Code"/>
              </a:rPr>
              <a:t>z.open(name)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491472" y="4983480"/>
            <a:ext cx="1895551" cy="6400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100" b="0">
                <a:solidFill>
                  <a:srgbClr val="5E5E5E"/>
                </a:solidFill>
                <a:latin typeface="Pretendard Medium"/>
                <a:ea typeface="Pretendard Medium"/>
              </a:rPr>
              <a:t>한 파일만 file-object 로 stream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25712" y="5605272"/>
            <a:ext cx="320040" cy="54864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1" spc="-20">
                <a:solidFill>
                  <a:srgbClr val="000000"/>
                </a:solidFill>
                <a:latin typeface="Pretendard"/>
                <a:ea typeface="Pretendard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91472" y="5605272"/>
            <a:ext cx="1895551" cy="25603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1">
                <a:solidFill>
                  <a:srgbClr val="000000"/>
                </a:solidFill>
                <a:latin typeface="Cascadia Code"/>
                <a:ea typeface="Cascadia Code"/>
              </a:rPr>
              <a:t>read_csv(f, cp949)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491472" y="5852160"/>
            <a:ext cx="1895551" cy="6400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100" b="0">
                <a:solidFill>
                  <a:srgbClr val="5E5E5E"/>
                </a:solidFill>
                <a:latin typeface="Pretendard Medium"/>
                <a:ea typeface="Pretendard Medium"/>
              </a:rPr>
              <a:t>126 MB 만 메모리 — 한글 인코딩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spc="240">
                <a:solidFill>
                  <a:srgbClr val="000000"/>
                </a:solidFill>
                <a:latin typeface="Pretendard"/>
                <a:ea typeface="Pretendard"/>
              </a:rPr>
              <a:t>LOCAL_PEOPLE  ·  HOURLY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899855" y="292608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100" b="1" spc="240">
                <a:solidFill>
                  <a:srgbClr val="5E5E5E"/>
                </a:solidFill>
                <a:latin typeface="Pretendard"/>
                <a:ea typeface="Pretendard"/>
              </a:rPr>
              <a:t>TAZ STUDIO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6382512"/>
            <a:ext cx="11094415" cy="0"/>
          </a:xfrm>
          <a:prstGeom prst="line">
            <a:avLst/>
          </a:prstGeom>
          <a:ln w="7620">
            <a:solidFill>
              <a:srgbClr val="EEEE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900" b="0">
                <a:solidFill>
                  <a:srgbClr val="5E5E5E"/>
                </a:solidFill>
                <a:latin typeface="Pretendard ExtraLight"/>
                <a:ea typeface="Pretendard ExtraLight"/>
              </a:rPr>
              <a:t>TAZ · Lecture 2 · OA 마스터 구축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900" b="0" spc="50">
                <a:solidFill>
                  <a:srgbClr val="5E5E5E"/>
                </a:solidFill>
                <a:latin typeface="Pretendard ExtraLight"/>
                <a:ea typeface="Pretendard ExtraLight"/>
              </a:rPr>
              <a:t>08 / 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914400"/>
            <a:ext cx="10058400" cy="6400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0" spc="-60">
                <a:solidFill>
                  <a:srgbClr val="000000"/>
                </a:solidFill>
                <a:latin typeface="Pretendard ExtraBold"/>
                <a:ea typeface="Pretendard ExtraBold"/>
              </a:rPr>
              <a:t>LP 시간대 패턴 — 한 OA 24시간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600200"/>
            <a:ext cx="109728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500" b="0">
                <a:solidFill>
                  <a:srgbClr val="5E5E5E"/>
                </a:solidFill>
                <a:latin typeface="Pretendard Medium"/>
                <a:ea typeface="Pretendard Medium"/>
              </a:rPr>
              <a:t>종로구 OA 하나의 24시간 추이 — 새벽 vs 정오 vs 야간 비교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331720"/>
            <a:ext cx="7680960" cy="3291840"/>
          </a:xfrm>
          <a:prstGeom prst="roundRect">
            <a:avLst>
              <a:gd name="adj" fmla="val 10000"/>
            </a:avLst>
          </a:prstGeom>
          <a:solidFill>
            <a:srgbClr val="F3F3F3"/>
          </a:solidFill>
          <a:ln w="6350">
            <a:solidFill>
              <a:srgbClr val="EEEE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22960" y="2423160"/>
            <a:ext cx="713232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1" spc="120">
                <a:solidFill>
                  <a:srgbClr val="5E5E5E"/>
                </a:solidFill>
                <a:latin typeface="Pretendard"/>
                <a:ea typeface="Pretendard"/>
              </a:rPr>
              <a:t>cell · hourly profile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822960" y="2642616"/>
            <a:ext cx="7132320" cy="0"/>
          </a:xfrm>
          <a:prstGeom prst="line">
            <a:avLst/>
          </a:prstGeom>
          <a:ln w="5080">
            <a:solidFill>
              <a:srgbClr val="EEEE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822960" y="2734056"/>
            <a:ext cx="7132320" cy="261518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000000"/>
                </a:solidFill>
                <a:latin typeface="Cascadia Code"/>
                <a:ea typeface="Pretendard Medium"/>
              </a:rPr>
              <a:t># 한 OA 의 24시간 총생활인구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000000"/>
                </a:solidFill>
                <a:latin typeface="Cascadia Code"/>
                <a:ea typeface="Pretendard Medium"/>
              </a:rPr>
              <a:t>sample_cd = lp['집계구코드'].iloc[0]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000000"/>
                </a:solidFill>
                <a:latin typeface="Cascadia Code"/>
                <a:ea typeface="Pretendard Medium"/>
              </a:rPr>
              <a:t>one_oa = lp[lp['집계구코드'] == sample_cd] \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000000"/>
                </a:solidFill>
                <a:latin typeface="Cascadia Code"/>
                <a:ea typeface="Pretendard Medium"/>
              </a:rPr>
              <a:t>           .sort_values('시간대구분')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000000"/>
                </a:solidFill>
                <a:latin typeface="Cascadia Code"/>
                <a:ea typeface="Pretendard Medium"/>
              </a:rPr>
              <a:t>fig, ax = plt.subplots(figsize=(10, 4))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000000"/>
                </a:solidFill>
                <a:latin typeface="Cascadia Code"/>
                <a:ea typeface="Pretendard Medium"/>
              </a:rPr>
              <a:t>ax.plot(one_oa['시간대구분'],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000000"/>
                </a:solidFill>
                <a:latin typeface="Cascadia Code"/>
                <a:ea typeface="Pretendard Medium"/>
              </a:rPr>
              <a:t>        one_oa['총생활인구수'],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000000"/>
                </a:solidFill>
                <a:latin typeface="Cascadia Code"/>
                <a:ea typeface="Pretendard Medium"/>
              </a:rPr>
              <a:t>        marker='o', color='steelblue')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000000"/>
                </a:solidFill>
                <a:latin typeface="Cascadia Code"/>
                <a:ea typeface="Pretendard Medium"/>
              </a:rPr>
              <a:t>ax.set_xlabel('시간대 (0-23h)')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000000"/>
                </a:solidFill>
                <a:latin typeface="Cascadia Code"/>
                <a:ea typeface="Pretendard Medium"/>
              </a:rPr>
              <a:t>ax.set_ylabel('생활인구 (명)')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000000"/>
                </a:solidFill>
                <a:latin typeface="Cascadia Code"/>
                <a:ea typeface="Pretendard Medium"/>
              </a:rPr>
              <a:t>ax.set_title(f'OA {sample_cd} — 시간대별 생활인구')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000000"/>
                </a:solidFill>
                <a:latin typeface="Cascadia Code"/>
                <a:ea typeface="Pretendard Medium"/>
              </a:rPr>
              <a:t>ax.grid(alpha=0.3); plt.show()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5760720"/>
            <a:ext cx="7680960" cy="868680"/>
          </a:xfrm>
          <a:prstGeom prst="roundRect">
            <a:avLst>
              <a:gd name="adj" fmla="val 37894"/>
            </a:avLst>
          </a:prstGeom>
          <a:solidFill>
            <a:srgbClr val="F3F3F3"/>
          </a:solidFill>
          <a:ln w="6350">
            <a:solidFill>
              <a:srgbClr val="EEEE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22960" y="5852160"/>
            <a:ext cx="713232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1" spc="120">
                <a:solidFill>
                  <a:srgbClr val="5E5E5E"/>
                </a:solidFill>
                <a:latin typeface="Pretendard"/>
                <a:ea typeface="Pretendard"/>
              </a:rPr>
              <a:t>output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822960" y="6071616"/>
            <a:ext cx="7132320" cy="0"/>
          </a:xfrm>
          <a:prstGeom prst="line">
            <a:avLst/>
          </a:prstGeom>
          <a:ln w="5080">
            <a:solidFill>
              <a:srgbClr val="EEEE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822960" y="6163056"/>
            <a:ext cx="7132320" cy="19202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000000"/>
                </a:solidFill>
                <a:latin typeface="Cascadia Code"/>
                <a:ea typeface="Pretendard Medium"/>
              </a:rPr>
              <a:t>새벽 (3시)  :  812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000000"/>
                </a:solidFill>
                <a:latin typeface="Cascadia Code"/>
                <a:ea typeface="Pretendard Medium"/>
              </a:rPr>
              <a:t>정오 (12시) : 1,540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000000"/>
                </a:solidFill>
                <a:latin typeface="Cascadia Code"/>
                <a:ea typeface="Pretendard Medium"/>
              </a:rPr>
              <a:t>야간 (20시) : 1,205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503919" y="2331720"/>
            <a:ext cx="3139136" cy="4297680"/>
          </a:xfrm>
          <a:prstGeom prst="roundRect">
            <a:avLst>
              <a:gd name="adj" fmla="val 12234"/>
            </a:avLst>
          </a:prstGeom>
          <a:solidFill>
            <a:srgbClr val="FFFFFF"/>
          </a:solidFill>
          <a:ln w="9525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778239" y="2606040"/>
            <a:ext cx="2590496" cy="29260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spc="240">
                <a:solidFill>
                  <a:srgbClr val="5E5E5E"/>
                </a:solidFill>
                <a:latin typeface="Pretendard"/>
                <a:ea typeface="Pretendard"/>
              </a:rPr>
              <a:t>PATTERN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778239" y="2935224"/>
            <a:ext cx="2590496" cy="6400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1" spc="0">
                <a:solidFill>
                  <a:srgbClr val="000000"/>
                </a:solidFill>
                <a:latin typeface="Pretendard"/>
                <a:ea typeface="Pretendard"/>
              </a:rPr>
              <a:t>시간대 패턴이
OA 의 정체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78239" y="3840480"/>
            <a:ext cx="2590496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1">
                <a:solidFill>
                  <a:srgbClr val="000000"/>
                </a:solidFill>
                <a:latin typeface="Cascadia Code"/>
                <a:ea typeface="Cascadia Code"/>
              </a:rPr>
              <a:t>residential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778239" y="4087368"/>
            <a:ext cx="2590496" cy="5943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100" b="0">
                <a:solidFill>
                  <a:srgbClr val="5E5E5E"/>
                </a:solidFill>
                <a:latin typeface="Pretendard Medium"/>
                <a:ea typeface="Pretendard Medium"/>
              </a:rPr>
              <a:t>새벽 ↑  ·  정오 ↓
외곽 베드타운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78239" y="4709160"/>
            <a:ext cx="2590496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1">
                <a:solidFill>
                  <a:srgbClr val="000000"/>
                </a:solidFill>
                <a:latin typeface="Cascadia Code"/>
                <a:ea typeface="Cascadia Code"/>
              </a:rPr>
              <a:t>workplace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778239" y="4956048"/>
            <a:ext cx="2590496" cy="5943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100" b="0">
                <a:solidFill>
                  <a:srgbClr val="5E5E5E"/>
                </a:solidFill>
                <a:latin typeface="Pretendard Medium"/>
                <a:ea typeface="Pretendard Medium"/>
              </a:rPr>
              <a:t>새벽 ↓  ·  정오 ↑
강남·종로·여의도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778239" y="5577840"/>
            <a:ext cx="2590496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1">
                <a:solidFill>
                  <a:srgbClr val="000000"/>
                </a:solidFill>
                <a:latin typeface="Cascadia Code"/>
                <a:ea typeface="Cascadia Code"/>
              </a:rPr>
              <a:t>retail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78239" y="5824728"/>
            <a:ext cx="2590496" cy="5943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100" b="0">
                <a:solidFill>
                  <a:srgbClr val="5E5E5E"/>
                </a:solidFill>
                <a:latin typeface="Pretendard Medium"/>
                <a:ea typeface="Pretendard Medium"/>
              </a:rPr>
              <a:t>정오/저녁 peak
명동 · 홍대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spc="240">
                <a:solidFill>
                  <a:srgbClr val="000000"/>
                </a:solidFill>
                <a:latin typeface="Pretendard"/>
                <a:ea typeface="Pretendard"/>
              </a:rPr>
              <a:t>OA CODE  ·  2016 vs 2025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899855" y="292608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100" b="1" spc="240">
                <a:solidFill>
                  <a:srgbClr val="5E5E5E"/>
                </a:solidFill>
                <a:latin typeface="Pretendard"/>
                <a:ea typeface="Pretendard"/>
              </a:rPr>
              <a:t>TAZ STUDIO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6382512"/>
            <a:ext cx="11094415" cy="0"/>
          </a:xfrm>
          <a:prstGeom prst="line">
            <a:avLst/>
          </a:prstGeom>
          <a:ln w="7620">
            <a:solidFill>
              <a:srgbClr val="EEEE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900" b="0">
                <a:solidFill>
                  <a:srgbClr val="5E5E5E"/>
                </a:solidFill>
                <a:latin typeface="Pretendard ExtraLight"/>
                <a:ea typeface="Pretendard ExtraLight"/>
              </a:rPr>
              <a:t>TAZ · Lecture 2 · OA 마스터 구축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900" b="0" spc="50">
                <a:solidFill>
                  <a:srgbClr val="5E5E5E"/>
                </a:solidFill>
                <a:latin typeface="Pretendard ExtraLight"/>
                <a:ea typeface="Pretendard ExtraLight"/>
              </a:rPr>
              <a:t>09 / 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914400"/>
            <a:ext cx="10058400" cy="6400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0" spc="-60">
                <a:solidFill>
                  <a:srgbClr val="000000"/>
                </a:solidFill>
                <a:latin typeface="Pretendard ExtraBold"/>
                <a:ea typeface="Pretendard ExtraBold"/>
              </a:rPr>
              <a:t>두 OA 코드 체계 — 2016 vs 2025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600200"/>
            <a:ext cx="109728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500" b="0">
                <a:solidFill>
                  <a:srgbClr val="5E5E5E"/>
                </a:solidFill>
                <a:latin typeface="Pretendard Medium"/>
                <a:ea typeface="Pretendard Medium"/>
              </a:rPr>
              <a:t>LOCAL_PEOPLE 는 2016 (13자리)  ·  SGIS 통계는 2025 (14자리) — 공간 교차로 매핑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331720"/>
            <a:ext cx="6766560" cy="1874519"/>
          </a:xfrm>
          <a:prstGeom prst="roundRect">
            <a:avLst>
              <a:gd name="adj" fmla="val 20487"/>
            </a:avLst>
          </a:prstGeom>
          <a:solidFill>
            <a:srgbClr val="EFEF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8" y="2624328"/>
            <a:ext cx="6181344" cy="29260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spc="240">
                <a:solidFill>
                  <a:srgbClr val="5E5E5E"/>
                </a:solidFill>
                <a:latin typeface="Pretendard"/>
                <a:ea typeface="Pretendard"/>
              </a:rPr>
              <a:t>2016  ·  LOCAL_PEOPLE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" y="2953512"/>
            <a:ext cx="6181344" cy="6400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1" spc="-20">
                <a:solidFill>
                  <a:srgbClr val="000000"/>
                </a:solidFill>
                <a:latin typeface="Cascadia Code"/>
                <a:ea typeface="Cascadia Code"/>
              </a:rPr>
              <a:t>TOT_REG_CD  ·  13 자리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" y="3675888"/>
            <a:ext cx="6181344" cy="4572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100" b="0">
                <a:solidFill>
                  <a:srgbClr val="5E5E5E"/>
                </a:solidFill>
                <a:latin typeface="Pretendard Medium"/>
                <a:ea typeface="Pretendard Medium"/>
              </a:rPr>
              <a:t>LP 의 '집계구코드' 와 완전 일치  ·  sgis_oa_2016/ 폴리곤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4434839"/>
            <a:ext cx="6766560" cy="1874519"/>
          </a:xfrm>
          <a:prstGeom prst="roundRect">
            <a:avLst>
              <a:gd name="adj" fmla="val 20487"/>
            </a:avLst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8" y="4727447"/>
            <a:ext cx="6181344" cy="29260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spc="240">
                <a:solidFill>
                  <a:srgbClr val="AFAFAF"/>
                </a:solidFill>
                <a:latin typeface="Pretendard"/>
                <a:ea typeface="Pretendard"/>
              </a:rPr>
              <a:t>2025  ·  SGIS 통계 표준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" y="5056631"/>
            <a:ext cx="6181344" cy="6400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1" spc="-20">
                <a:solidFill>
                  <a:srgbClr val="FFFFFF"/>
                </a:solidFill>
                <a:latin typeface="Cascadia Code"/>
                <a:ea typeface="Cascadia Code"/>
              </a:rPr>
              <a:t>TOT_OA_CD  ·  14 자리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" y="5779007"/>
            <a:ext cx="6181344" cy="54864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100" b="0">
                <a:solidFill>
                  <a:srgbClr val="AFAFAF"/>
                </a:solidFill>
                <a:latin typeface="Pretendard Medium"/>
                <a:ea typeface="Pretendard Medium"/>
              </a:rPr>
              <a:t>oa_master 의 기본 키  ·  2016~2025 사이 ~50 OA 재구획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589520" y="2331720"/>
            <a:ext cx="4053535" cy="3977638"/>
          </a:xfrm>
          <a:prstGeom prst="roundRect">
            <a:avLst>
              <a:gd name="adj" fmla="val 9655"/>
            </a:avLst>
          </a:prstGeom>
          <a:solidFill>
            <a:srgbClr val="FFFFFF"/>
          </a:solidFill>
          <a:ln w="9525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7863840" y="2606040"/>
            <a:ext cx="3504895" cy="29260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spc="240">
                <a:solidFill>
                  <a:srgbClr val="5E5E5E"/>
                </a:solidFill>
                <a:latin typeface="Pretendard"/>
                <a:ea typeface="Pretendard"/>
              </a:rPr>
              <a:t>SOLUTION  ·  AREA-WEIGHT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63840" y="2935224"/>
            <a:ext cx="3504895" cy="6400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1" spc="0">
                <a:solidFill>
                  <a:srgbClr val="000000"/>
                </a:solidFill>
                <a:latin typeface="Pretendard"/>
                <a:ea typeface="Pretendard"/>
              </a:rPr>
              <a:t>면적가중 매핑표
+ disaggregate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7863840" y="3931920"/>
            <a:ext cx="3504895" cy="0"/>
          </a:xfrm>
          <a:prstGeom prst="line">
            <a:avLst/>
          </a:prstGeom>
          <a:ln w="7620">
            <a:solidFill>
              <a:srgbClr val="EEEE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7863840" y="4023360"/>
            <a:ext cx="3504895" cy="9144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000000"/>
                </a:solidFill>
                <a:latin typeface="Cascadia Code"/>
                <a:ea typeface="Cascadia Code"/>
              </a:rPr>
              <a:t>oa2016_to_oa2025
.parquet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863840" y="4846320"/>
            <a:ext cx="3504895" cy="10972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100" b="0">
                <a:solidFill>
                  <a:srgbClr val="5E5E5E"/>
                </a:solidFill>
                <a:latin typeface="Pretendard Medium"/>
                <a:ea typeface="Pretendard Medium"/>
              </a:rPr>
              <a:t>· weight 합 = 1 per 2016 OA
· LP × weight → 2025 단위로
  disaggregate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spc="240">
                <a:solidFill>
                  <a:srgbClr val="000000"/>
                </a:solidFill>
                <a:latin typeface="Pretendard"/>
                <a:ea typeface="Pretendard"/>
              </a:rPr>
              <a:t>OA CODE  ·  MAPPING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899855" y="292608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100" b="1" spc="240">
                <a:solidFill>
                  <a:srgbClr val="5E5E5E"/>
                </a:solidFill>
                <a:latin typeface="Pretendard"/>
                <a:ea typeface="Pretendard"/>
              </a:rPr>
              <a:t>TAZ STUDIO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6382512"/>
            <a:ext cx="11094415" cy="0"/>
          </a:xfrm>
          <a:prstGeom prst="line">
            <a:avLst/>
          </a:prstGeom>
          <a:ln w="7620">
            <a:solidFill>
              <a:srgbClr val="EEEE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900" b="0">
                <a:solidFill>
                  <a:srgbClr val="5E5E5E"/>
                </a:solidFill>
                <a:latin typeface="Pretendard ExtraLight"/>
                <a:ea typeface="Pretendard ExtraLight"/>
              </a:rPr>
              <a:t>TAZ · Lecture 2 · OA 마스터 구축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900" b="0" spc="50">
                <a:solidFill>
                  <a:srgbClr val="5E5E5E"/>
                </a:solidFill>
                <a:latin typeface="Pretendard ExtraLight"/>
                <a:ea typeface="Pretendard ExtraLight"/>
              </a:rPr>
              <a:t>10 / 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914400"/>
            <a:ext cx="10058400" cy="6400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0" spc="-60">
                <a:solidFill>
                  <a:srgbClr val="000000"/>
                </a:solidFill>
                <a:latin typeface="Pretendard ExtraBold"/>
                <a:ea typeface="Pretendard ExtraBold"/>
              </a:rPr>
              <a:t>2016 → 2025 매핑표 — 면적가중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600200"/>
            <a:ext cx="109728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500" b="0">
                <a:solidFill>
                  <a:srgbClr val="5E5E5E"/>
                </a:solidFill>
                <a:latin typeface="Pretendard Medium"/>
                <a:ea typeface="Pretendard Medium"/>
              </a:rPr>
              <a:t>한 2016 OA 가 여러 2025 OA 로 쪼개진 사례 확인 — 재구획 진단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331720"/>
            <a:ext cx="8046720" cy="4297680"/>
          </a:xfrm>
          <a:prstGeom prst="roundRect">
            <a:avLst>
              <a:gd name="adj" fmla="val 7659"/>
            </a:avLst>
          </a:prstGeom>
          <a:solidFill>
            <a:srgbClr val="F3F3F3"/>
          </a:solidFill>
          <a:ln w="6350">
            <a:solidFill>
              <a:srgbClr val="EEEE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22960" y="2423160"/>
            <a:ext cx="749808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1" spc="120">
                <a:solidFill>
                  <a:srgbClr val="5E5E5E"/>
                </a:solidFill>
                <a:latin typeface="Pretendard"/>
                <a:ea typeface="Pretendard"/>
              </a:rPr>
              <a:t>cell · mapping preview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822960" y="2642616"/>
            <a:ext cx="7498080" cy="0"/>
          </a:xfrm>
          <a:prstGeom prst="line">
            <a:avLst/>
          </a:prstGeom>
          <a:ln w="5080">
            <a:solidFill>
              <a:srgbClr val="EEEE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822960" y="2734056"/>
            <a:ext cx="7498080" cy="362102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000000"/>
                </a:solidFill>
                <a:latin typeface="Cascadia Code"/>
                <a:ea typeface="Pretendard Medium"/>
              </a:rPr>
              <a:t>mapping = pd.read_parquet(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000000"/>
                </a:solidFill>
                <a:latin typeface="Cascadia Code"/>
                <a:ea typeface="Pretendard Medium"/>
              </a:rPr>
              <a:t>    os.path.join(DRV, 'oa2016_to_oa2025.parquet'))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000000"/>
                </a:solidFill>
                <a:latin typeface="Cascadia Code"/>
                <a:ea typeface="Pretendard Medium"/>
              </a:rPr>
              <a:t>print(f'매핑 행 수 : {len(mapping):,}')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000000"/>
                </a:solidFill>
                <a:latin typeface="Cascadia Code"/>
                <a:ea typeface="Pretendard Medium"/>
              </a:rPr>
              <a:t>print(f'컬럼       : {list(mapping.columns)}')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000000"/>
                </a:solidFill>
                <a:latin typeface="Cascadia Code"/>
                <a:ea typeface="Pretendard Medium"/>
              </a:rPr>
              <a:t>print(mapping.head(5))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000000"/>
                </a:solidFill>
                <a:latin typeface="Cascadia Code"/>
                <a:ea typeface="Pretendard Medium"/>
              </a:rPr>
              <a:t># 한 2016 OA 가 여러 2025 OA 로 쪼개진 사례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000000"/>
                </a:solidFill>
                <a:latin typeface="Cascadia Code"/>
                <a:ea typeface="Pretendard Medium"/>
              </a:rPr>
              <a:t>multi = (mapping.groupby('TOT_REG_CD').size()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000000"/>
                </a:solidFill>
                <a:latin typeface="Cascadia Code"/>
                <a:ea typeface="Pretendard Medium"/>
              </a:rPr>
              <a:t>                .sort_values(ascending=False))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000000"/>
                </a:solidFill>
                <a:latin typeface="Cascadia Code"/>
                <a:ea typeface="Pretendard Medium"/>
              </a:rPr>
              <a:t>n_one  = (multi == 1).sum()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000000"/>
                </a:solidFill>
                <a:latin typeface="Cascadia Code"/>
                <a:ea typeface="Pretendard Medium"/>
              </a:rPr>
              <a:t>n_many = (multi &gt; 1).sum()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000000"/>
                </a:solidFill>
                <a:latin typeface="Cascadia Code"/>
                <a:ea typeface="Pretendard Medium"/>
              </a:rPr>
              <a:t>print(f'2016 → 2025 단일 매칭 : {n_one}'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000000"/>
                </a:solidFill>
                <a:latin typeface="Cascadia Code"/>
                <a:ea typeface="Pretendard Medium"/>
              </a:rPr>
              <a:t>      f'  ({n_one/len(multi)*100:.1f}%)')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000000"/>
                </a:solidFill>
                <a:latin typeface="Cascadia Code"/>
                <a:ea typeface="Pretendard Medium"/>
              </a:rPr>
              <a:t>print(f'재구획 (1→여러)       : {n_many}')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000000"/>
                </a:solidFill>
                <a:latin typeface="Cascadia Code"/>
                <a:ea typeface="Pretendard Medium"/>
              </a:rPr>
              <a:t>print(f'최대 분할             : {multi.max()} 개')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869680" y="2331720"/>
            <a:ext cx="2773375" cy="4297680"/>
          </a:xfrm>
          <a:prstGeom prst="roundRect">
            <a:avLst>
              <a:gd name="adj" fmla="val 13847"/>
            </a:avLst>
          </a:prstGeom>
          <a:solidFill>
            <a:srgbClr val="FFFFFF"/>
          </a:solidFill>
          <a:ln w="9525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144000" y="2606040"/>
            <a:ext cx="2224735" cy="29260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spc="240">
                <a:solidFill>
                  <a:srgbClr val="5E5E5E"/>
                </a:solidFill>
                <a:latin typeface="Pretendard"/>
                <a:ea typeface="Pretendard"/>
              </a:rPr>
              <a:t>MAPPING SCHEMA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0" y="2971800"/>
            <a:ext cx="137160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1">
                <a:solidFill>
                  <a:srgbClr val="000000"/>
                </a:solidFill>
                <a:latin typeface="Cascadia Code"/>
                <a:ea typeface="Cascadia Code"/>
              </a:rPr>
              <a:t>TOT_REG_CD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0" y="2971800"/>
            <a:ext cx="45720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100" b="0">
                <a:solidFill>
                  <a:srgbClr val="5E5E5E"/>
                </a:solidFill>
                <a:latin typeface="Cascadia Code"/>
                <a:ea typeface="Cascadia Code"/>
              </a:rPr>
              <a:t>13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0" y="3227832"/>
            <a:ext cx="2224735" cy="4572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100" b="0">
                <a:solidFill>
                  <a:srgbClr val="5E5E5E"/>
                </a:solidFill>
                <a:latin typeface="Pretendard Medium"/>
                <a:ea typeface="Pretendard Medium"/>
              </a:rPr>
              <a:t>2016 OA 코드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0" y="3685032"/>
            <a:ext cx="137160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1">
                <a:solidFill>
                  <a:srgbClr val="000000"/>
                </a:solidFill>
                <a:latin typeface="Cascadia Code"/>
                <a:ea typeface="Cascadia Code"/>
              </a:rPr>
              <a:t>TOT_OA_CD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0" y="3685032"/>
            <a:ext cx="45720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100" b="0">
                <a:solidFill>
                  <a:srgbClr val="5E5E5E"/>
                </a:solidFill>
                <a:latin typeface="Cascadia Code"/>
                <a:ea typeface="Cascadia Code"/>
              </a:rPr>
              <a:t>14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0" y="3941064"/>
            <a:ext cx="2224735" cy="4572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100" b="0">
                <a:solidFill>
                  <a:srgbClr val="5E5E5E"/>
                </a:solidFill>
                <a:latin typeface="Pretendard Medium"/>
                <a:ea typeface="Pretendard Medium"/>
              </a:rPr>
              <a:t>2025 OA 코드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0" y="4398264"/>
            <a:ext cx="137160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1">
                <a:solidFill>
                  <a:srgbClr val="000000"/>
                </a:solidFill>
                <a:latin typeface="Cascadia Code"/>
                <a:ea typeface="Cascadia Code"/>
              </a:rPr>
              <a:t>weight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15600" y="4398264"/>
            <a:ext cx="45720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100" b="0">
                <a:solidFill>
                  <a:srgbClr val="5E5E5E"/>
                </a:solidFill>
                <a:latin typeface="Cascadia Code"/>
                <a:ea typeface="Cascadia Code"/>
              </a:rPr>
              <a:t>f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0" y="4654296"/>
            <a:ext cx="2224735" cy="4572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100" b="0">
                <a:solidFill>
                  <a:srgbClr val="5E5E5E"/>
                </a:solidFill>
                <a:latin typeface="Pretendard Medium"/>
                <a:ea typeface="Pretendard Medium"/>
              </a:rPr>
              <a:t>면적 비율 (0~1)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144000" y="5074920"/>
            <a:ext cx="2224735" cy="420624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9144000" y="5074920"/>
            <a:ext cx="2224735" cy="420624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40000"/>
              </a:lnSpc>
            </a:pPr>
            <a:r>
              <a:rPr sz="1000" b="1" spc="80">
                <a:solidFill>
                  <a:srgbClr val="FFFFFF"/>
                </a:solidFill>
                <a:latin typeface="Pretendard"/>
                <a:ea typeface="Pretendard"/>
              </a:rPr>
              <a:t>INVARIANT  ·  Σ weight = 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0" y="5660136"/>
            <a:ext cx="2224735" cy="5029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100" b="0">
                <a:solidFill>
                  <a:srgbClr val="5E5E5E"/>
                </a:solidFill>
                <a:latin typeface="Pretendard Medium"/>
                <a:ea typeface="Pretendard Medium"/>
              </a:rPr>
              <a:t>→ 한 2016 OA 의 인구 합이
   2025 OA 들로 정확히 분배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spc="240">
                <a:solidFill>
                  <a:srgbClr val="000000"/>
                </a:solidFill>
                <a:latin typeface="Pretendard"/>
                <a:ea typeface="Pretendard"/>
              </a:rPr>
              <a:t>OA MASTER  ·  LAYOUT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899855" y="292608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100" b="1" spc="240">
                <a:solidFill>
                  <a:srgbClr val="5E5E5E"/>
                </a:solidFill>
                <a:latin typeface="Pretendard"/>
                <a:ea typeface="Pretendard"/>
              </a:rPr>
              <a:t>TAZ STUDIO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6382512"/>
            <a:ext cx="11094415" cy="0"/>
          </a:xfrm>
          <a:prstGeom prst="line">
            <a:avLst/>
          </a:prstGeom>
          <a:ln w="7620">
            <a:solidFill>
              <a:srgbClr val="EEEE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900" b="0">
                <a:solidFill>
                  <a:srgbClr val="5E5E5E"/>
                </a:solidFill>
                <a:latin typeface="Pretendard ExtraLight"/>
                <a:ea typeface="Pretendard ExtraLight"/>
              </a:rPr>
              <a:t>TAZ · Lecture 2 · OA 마스터 구축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900" b="0" spc="50">
                <a:solidFill>
                  <a:srgbClr val="5E5E5E"/>
                </a:solidFill>
                <a:latin typeface="Pretendard ExtraLight"/>
                <a:ea typeface="Pretendard ExtraLight"/>
              </a:rPr>
              <a:t>11 / 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914400"/>
            <a:ext cx="10058400" cy="6400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0" spc="-60">
                <a:solidFill>
                  <a:srgbClr val="000000"/>
                </a:solidFill>
                <a:latin typeface="Pretendard ExtraBold"/>
                <a:ea typeface="Pretendard ExtraBold"/>
              </a:rPr>
              <a:t>oa_master.parquet — 19,097 × 150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600200"/>
            <a:ext cx="109728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500" b="0">
                <a:solidFill>
                  <a:srgbClr val="5E5E5E"/>
                </a:solidFill>
                <a:latin typeface="Pretendard Medium"/>
                <a:ea typeface="Pretendard Medium"/>
              </a:rPr>
              <a:t>위의 모든 raw 를 합친 결과.  직접 만들면 ~8분 → 이미 만들어진 것을 로드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377440"/>
            <a:ext cx="2087209" cy="2286000"/>
          </a:xfrm>
          <a:prstGeom prst="roundRect">
            <a:avLst>
              <a:gd name="adj" fmla="val 18400"/>
            </a:avLst>
          </a:prstGeom>
          <a:solidFill>
            <a:srgbClr val="EFEF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749808" y="2578608"/>
            <a:ext cx="1684873" cy="29260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spc="240">
                <a:solidFill>
                  <a:srgbClr val="5E5E5E"/>
                </a:solidFill>
                <a:latin typeface="Pretendard"/>
                <a:ea typeface="Pretendard"/>
              </a:rPr>
              <a:t>KEY · GEOM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2871216"/>
            <a:ext cx="1684873" cy="5029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1" spc="-20">
                <a:solidFill>
                  <a:srgbClr val="000000"/>
                </a:solidFill>
                <a:latin typeface="Pretendard"/>
                <a:ea typeface="Pretendard"/>
              </a:rPr>
              <a:t>3 + 2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3447288"/>
            <a:ext cx="1684873" cy="1014984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5E5E5E"/>
                </a:solidFill>
                <a:latin typeface="Cascadia Code"/>
                <a:ea typeface="Cascadia Code"/>
              </a:rPr>
              <a:t>TOT_OA_CD
ADM_CD
block_id
geometry
area_m2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800441" y="2377440"/>
            <a:ext cx="2087209" cy="2286000"/>
          </a:xfrm>
          <a:prstGeom prst="roundRect">
            <a:avLst>
              <a:gd name="adj" fmla="val 18400"/>
            </a:avLst>
          </a:prstGeom>
          <a:solidFill>
            <a:srgbClr val="EFEF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3001609" y="2578608"/>
            <a:ext cx="1684873" cy="29260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spc="240">
                <a:solidFill>
                  <a:srgbClr val="5E5E5E"/>
                </a:solidFill>
                <a:latin typeface="Pretendard"/>
                <a:ea typeface="Pretendard"/>
              </a:rPr>
              <a:t>인구·가구·주택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01609" y="2871216"/>
            <a:ext cx="1684873" cy="5029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1" spc="-20">
                <a:solidFill>
                  <a:srgbClr val="000000"/>
                </a:solidFill>
                <a:latin typeface="Pretendard"/>
                <a:ea typeface="Pretendard"/>
              </a:rPr>
              <a:t>~ 20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01609" y="3447288"/>
            <a:ext cx="1684873" cy="1014984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5E5E5E"/>
                </a:solidFill>
                <a:latin typeface="Cascadia Code"/>
                <a:ea typeface="Cascadia Code"/>
              </a:rPr>
              <a:t>pop_total
hh_count
ho_total
aging_idx
hh_avg_size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52242" y="2377440"/>
            <a:ext cx="2087209" cy="2286000"/>
          </a:xfrm>
          <a:prstGeom prst="roundRect">
            <a:avLst>
              <a:gd name="adj" fmla="val 18400"/>
            </a:avLst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5253410" y="2578608"/>
            <a:ext cx="1684873" cy="29260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spc="240">
                <a:solidFill>
                  <a:srgbClr val="AFAFAF"/>
                </a:solidFill>
                <a:latin typeface="Pretendard"/>
                <a:ea typeface="Pretendard"/>
              </a:rPr>
              <a:t>성연령 81종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53410" y="2871216"/>
            <a:ext cx="1684873" cy="5029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1" spc="-20">
                <a:solidFill>
                  <a:srgbClr val="FFFFFF"/>
                </a:solidFill>
                <a:latin typeface="Pretendard"/>
                <a:ea typeface="Pretendard"/>
              </a:rPr>
              <a:t>81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53410" y="3447288"/>
            <a:ext cx="1684873" cy="1014984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AFAFAF"/>
                </a:solidFill>
                <a:latin typeface="Cascadia Code"/>
                <a:ea typeface="Cascadia Code"/>
              </a:rPr>
              <a:t>in_age_M00_04
in_age_M05_09
  ...
in_age_F70_74
in_age_F75p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04043" y="2377440"/>
            <a:ext cx="2087209" cy="2286000"/>
          </a:xfrm>
          <a:prstGeom prst="roundRect">
            <a:avLst>
              <a:gd name="adj" fmla="val 18400"/>
            </a:avLst>
          </a:prstGeom>
          <a:solidFill>
            <a:srgbClr val="EFEF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7505211" y="2578608"/>
            <a:ext cx="1684873" cy="29260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spc="240">
                <a:solidFill>
                  <a:srgbClr val="5E5E5E"/>
                </a:solidFill>
                <a:latin typeface="Pretendard"/>
                <a:ea typeface="Pretendard"/>
              </a:rPr>
              <a:t>LP 시간 풀 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05211" y="2871216"/>
            <a:ext cx="1684873" cy="5029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1" spc="-20">
                <a:solidFill>
                  <a:srgbClr val="000000"/>
                </a:solidFill>
                <a:latin typeface="Pretendard"/>
                <a:ea typeface="Pretendard"/>
              </a:rPr>
              <a:t>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05211" y="3447288"/>
            <a:ext cx="1684873" cy="1014984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5E5E5E"/>
                </a:solidFill>
                <a:latin typeface="Cascadia Code"/>
                <a:ea typeface="Cascadia Code"/>
              </a:rPr>
              <a:t>lp_pool_resident_02_05
lp_pool_morning_07_10
lp_pool_midday_11_15
lp_pool_evening_18_21
lp_pool_late_22_01
lp_pool_24h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555844" y="2377440"/>
            <a:ext cx="2087209" cy="2286000"/>
          </a:xfrm>
          <a:prstGeom prst="roundRect">
            <a:avLst>
              <a:gd name="adj" fmla="val 18400"/>
            </a:avLst>
          </a:prstGeom>
          <a:solidFill>
            <a:srgbClr val="EFEF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9757012" y="2578608"/>
            <a:ext cx="1684873" cy="29260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spc="240">
                <a:solidFill>
                  <a:srgbClr val="5E5E5E"/>
                </a:solidFill>
                <a:latin typeface="Pretendard"/>
                <a:ea typeface="Pretendard"/>
              </a:rPr>
              <a:t>LP 성연령 28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757012" y="2871216"/>
            <a:ext cx="1684873" cy="5029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1" spc="-20">
                <a:solidFill>
                  <a:srgbClr val="000000"/>
                </a:solidFill>
                <a:latin typeface="Pretendard"/>
                <a:ea typeface="Pretendard"/>
              </a:rPr>
              <a:t>28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757012" y="3447288"/>
            <a:ext cx="1684873" cy="1014984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5E5E5E"/>
                </a:solidFill>
                <a:latin typeface="Cascadia Code"/>
                <a:ea typeface="Cascadia Code"/>
              </a:rPr>
              <a:t>lp_demo_M00_09
lp_demo_M10_19
  ...
lp_demo_F70p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48640" y="4937760"/>
            <a:ext cx="11094415" cy="1325880"/>
          </a:xfrm>
          <a:prstGeom prst="roundRect">
            <a:avLst>
              <a:gd name="adj" fmla="val 28965"/>
            </a:avLst>
          </a:prstGeom>
          <a:solidFill>
            <a:srgbClr val="FFFFFF"/>
          </a:solidFill>
          <a:ln w="9525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8" y="5230368"/>
            <a:ext cx="365760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spc="240">
                <a:solidFill>
                  <a:srgbClr val="5E5E5E"/>
                </a:solidFill>
                <a:latin typeface="Pretendard"/>
                <a:ea typeface="Pretendard"/>
              </a:rPr>
              <a:t>TOT_OA_CD  ·  14 DIGITS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1248" y="5522976"/>
            <a:ext cx="45720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1" spc="-20">
                <a:solidFill>
                  <a:srgbClr val="000000"/>
                </a:solidFill>
                <a:latin typeface="Cascadia Code"/>
                <a:ea typeface="Cascadia Code"/>
              </a:rPr>
              <a:t>11010530010001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83680" y="5230368"/>
            <a:ext cx="548640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spc="240">
                <a:solidFill>
                  <a:srgbClr val="5E5E5E"/>
                </a:solidFill>
                <a:latin typeface="Pretendard"/>
                <a:ea typeface="Pretendard"/>
              </a:rPr>
              <a:t>SLICING  ·  groupby key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83680" y="5522976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1">
                <a:solidFill>
                  <a:srgbClr val="000000"/>
                </a:solidFill>
                <a:latin typeface="Cascadia Code"/>
                <a:ea typeface="Cascadia Code"/>
              </a:rPr>
              <a:t>[:5]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498080" y="5522976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100" b="0">
                <a:solidFill>
                  <a:srgbClr val="5E5E5E"/>
                </a:solidFill>
                <a:latin typeface="Pretendard Medium"/>
                <a:ea typeface="Pretendard Medium"/>
              </a:rPr>
              <a:t>시군구  ·  자치구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83680" y="5833872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1">
                <a:solidFill>
                  <a:srgbClr val="000000"/>
                </a:solidFill>
                <a:latin typeface="Cascadia Code"/>
                <a:ea typeface="Cascadia Code"/>
              </a:rPr>
              <a:t>[:8]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498080" y="5833872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100" b="0">
                <a:solidFill>
                  <a:srgbClr val="5E5E5E"/>
                </a:solidFill>
                <a:latin typeface="Pretendard Medium"/>
                <a:ea typeface="Pretendard Medium"/>
              </a:rPr>
              <a:t>행정동 (SGIS 8자리)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spc="240">
                <a:solidFill>
                  <a:srgbClr val="000000"/>
                </a:solidFill>
                <a:latin typeface="Pretendard"/>
                <a:ea typeface="Pretendard"/>
              </a:rPr>
              <a:t>OA MASTER  ·  LOAD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899855" y="292608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100" b="1" spc="240">
                <a:solidFill>
                  <a:srgbClr val="5E5E5E"/>
                </a:solidFill>
                <a:latin typeface="Pretendard"/>
                <a:ea typeface="Pretendard"/>
              </a:rPr>
              <a:t>TAZ STUDIO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6382512"/>
            <a:ext cx="11094415" cy="0"/>
          </a:xfrm>
          <a:prstGeom prst="line">
            <a:avLst/>
          </a:prstGeom>
          <a:ln w="7620">
            <a:solidFill>
              <a:srgbClr val="EEEE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900" b="0">
                <a:solidFill>
                  <a:srgbClr val="5E5E5E"/>
                </a:solidFill>
                <a:latin typeface="Pretendard ExtraLight"/>
                <a:ea typeface="Pretendard ExtraLight"/>
              </a:rPr>
              <a:t>TAZ · Lecture 2 · OA 마스터 구축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900" b="0" spc="50">
                <a:solidFill>
                  <a:srgbClr val="5E5E5E"/>
                </a:solidFill>
                <a:latin typeface="Pretendard ExtraLight"/>
                <a:ea typeface="Pretendard ExtraLight"/>
              </a:rPr>
              <a:t>12 / 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914400"/>
            <a:ext cx="10058400" cy="6400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0" spc="-60">
                <a:solidFill>
                  <a:srgbClr val="000000"/>
                </a:solidFill>
                <a:latin typeface="Pretendard ExtraBold"/>
                <a:ea typeface="Pretendard ExtraBold"/>
              </a:rPr>
              <a:t>oa_master 로드 + 컬럼 그룹 확인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600200"/>
            <a:ext cx="109728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500" b="0">
                <a:solidFill>
                  <a:srgbClr val="5E5E5E"/>
                </a:solidFill>
                <a:latin typeface="Pretendard Medium"/>
                <a:ea typeface="Pretendard Medium"/>
              </a:rPr>
              <a:t>gpd.read_parquet 한 줄.  컬럼 prefix 로 5개 그룹 셀프 점검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331720"/>
            <a:ext cx="8046720" cy="4297680"/>
          </a:xfrm>
          <a:prstGeom prst="roundRect">
            <a:avLst>
              <a:gd name="adj" fmla="val 7659"/>
            </a:avLst>
          </a:prstGeom>
          <a:solidFill>
            <a:srgbClr val="F3F3F3"/>
          </a:solidFill>
          <a:ln w="6350">
            <a:solidFill>
              <a:srgbClr val="EEEE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22960" y="2423160"/>
            <a:ext cx="749808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1" spc="120">
                <a:solidFill>
                  <a:srgbClr val="5E5E5E"/>
                </a:solidFill>
                <a:latin typeface="Pretendard"/>
                <a:ea typeface="Pretendard"/>
              </a:rPr>
              <a:t>cell · load + group check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822960" y="2642616"/>
            <a:ext cx="7498080" cy="0"/>
          </a:xfrm>
          <a:prstGeom prst="line">
            <a:avLst/>
          </a:prstGeom>
          <a:ln w="5080">
            <a:solidFill>
              <a:srgbClr val="EEEE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822960" y="2734056"/>
            <a:ext cx="7498080" cy="362102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000000"/>
                </a:solidFill>
                <a:latin typeface="Cascadia Code"/>
                <a:ea typeface="Pretendard Medium"/>
              </a:rPr>
              <a:t>oa_master = gpd.read_parquet(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000000"/>
                </a:solidFill>
                <a:latin typeface="Cascadia Code"/>
                <a:ea typeface="Pretendard Medium"/>
              </a:rPr>
              <a:t>    os.path.join(DRV, 'oa_master.parquet'))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000000"/>
                </a:solidFill>
                <a:latin typeface="Cascadia Code"/>
                <a:ea typeface="Pretendard Medium"/>
              </a:rPr>
              <a:t>print(f'oa_master shape : {oa_master.shape}')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000000"/>
                </a:solidFill>
                <a:latin typeface="Cascadia Code"/>
                <a:ea typeface="Pretendard Medium"/>
              </a:rPr>
              <a:t>print('주요 컬럼 그룹:')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000000"/>
                </a:solidFill>
                <a:latin typeface="Cascadia Code"/>
                <a:ea typeface="Pretendard Medium"/>
              </a:rPr>
              <a:t>for prefix, label in [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000000"/>
                </a:solidFill>
                <a:latin typeface="Cascadia Code"/>
                <a:ea typeface="Pretendard Medium"/>
              </a:rPr>
              <a:t>    ('pop_',    '인구 통계'),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000000"/>
                </a:solidFill>
                <a:latin typeface="Cascadia Code"/>
                <a:ea typeface="Pretendard Medium"/>
              </a:rPr>
              <a:t>    ('hh_',     '가구'),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000000"/>
                </a:solidFill>
                <a:latin typeface="Cascadia Code"/>
                <a:ea typeface="Pretendard Medium"/>
              </a:rPr>
              <a:t>    ('ho_',     '주택'),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000000"/>
                </a:solidFill>
                <a:latin typeface="Cascadia Code"/>
                <a:ea typeface="Pretendard Medium"/>
              </a:rPr>
              <a:t>    ('in_age_', '성연령 81종'),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000000"/>
                </a:solidFill>
                <a:latin typeface="Cascadia Code"/>
                <a:ea typeface="Pretendard Medium"/>
              </a:rPr>
              <a:t>    ('lp_pool_','LP 시간 풀'),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000000"/>
                </a:solidFill>
                <a:latin typeface="Cascadia Code"/>
                <a:ea typeface="Pretendard Medium"/>
              </a:rPr>
              <a:t>    ('lp_demo_','LP 성연령 28종'),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000000"/>
                </a:solidFill>
                <a:latin typeface="Cascadia Code"/>
                <a:ea typeface="Pretendard Medium"/>
              </a:rPr>
              <a:t>]: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000000"/>
                </a:solidFill>
                <a:latin typeface="Cascadia Code"/>
                <a:ea typeface="Pretendard Medium"/>
              </a:rPr>
              <a:t>    cols = [c for c in oa_master.columns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000000"/>
                </a:solidFill>
                <a:latin typeface="Cascadia Code"/>
                <a:ea typeface="Pretendard Medium"/>
              </a:rPr>
              <a:t>                  if c.startswith(prefix)]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000000"/>
                </a:solidFill>
                <a:latin typeface="Cascadia Code"/>
                <a:ea typeface="Pretendard Medium"/>
              </a:rPr>
              <a:t>    print(f'  {label:&lt;12} ({prefix}*) : {len(cols)}개')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000000"/>
                </a:solidFill>
                <a:latin typeface="Cascadia Code"/>
                <a:ea typeface="Pretendard Medium"/>
              </a:rPr>
              <a:t>print(f'결측 (pop_total) : '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000000"/>
                </a:solidFill>
                <a:latin typeface="Cascadia Code"/>
                <a:ea typeface="Pretendard Medium"/>
              </a:rPr>
              <a:t>      f'{oa_master["pop_total"].isna().sum()} OA')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869680" y="2331720"/>
            <a:ext cx="2773375" cy="4297680"/>
          </a:xfrm>
          <a:prstGeom prst="roundRect">
            <a:avLst>
              <a:gd name="adj" fmla="val 13847"/>
            </a:avLst>
          </a:prstGeom>
          <a:solidFill>
            <a:srgbClr val="EFEF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144000" y="2606040"/>
            <a:ext cx="2224735" cy="29260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spc="240">
                <a:solidFill>
                  <a:srgbClr val="5E5E5E"/>
                </a:solidFill>
                <a:latin typeface="Pretendard"/>
                <a:ea typeface="Pretendard"/>
              </a:rPr>
              <a:t>EXPECTED OUTPUT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0" y="3017520"/>
            <a:ext cx="2224735" cy="25603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100" b="0">
                <a:solidFill>
                  <a:srgbClr val="000000"/>
                </a:solidFill>
                <a:latin typeface="Cascadia Code"/>
                <a:ea typeface="Cascadia Code"/>
              </a:rPr>
              <a:t>oa_master shape : (19097, 150)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0" y="3291840"/>
            <a:ext cx="2224735" cy="25603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100" b="0">
                <a:solidFill>
                  <a:srgbClr val="000000"/>
                </a:solidFill>
                <a:latin typeface="Cascadia Code"/>
                <a:ea typeface="Cascadia Code"/>
              </a:rPr>
              <a:t/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0" y="3566160"/>
            <a:ext cx="2224735" cy="25603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100" b="0">
                <a:solidFill>
                  <a:srgbClr val="000000"/>
                </a:solidFill>
                <a:latin typeface="Cascadia Code"/>
                <a:ea typeface="Cascadia Code"/>
              </a:rPr>
              <a:t>주요 컬럼 그룹: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0" y="3840480"/>
            <a:ext cx="2224735" cy="25603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100" b="0">
                <a:solidFill>
                  <a:srgbClr val="000000"/>
                </a:solidFill>
                <a:latin typeface="Cascadia Code"/>
                <a:ea typeface="Cascadia Code"/>
              </a:rPr>
              <a:t>  인구 통계    (pop_*)     :  6개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0" y="4114800"/>
            <a:ext cx="2224735" cy="25603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100" b="0">
                <a:solidFill>
                  <a:srgbClr val="000000"/>
                </a:solidFill>
                <a:latin typeface="Cascadia Code"/>
                <a:ea typeface="Cascadia Code"/>
              </a:rPr>
              <a:t>  가구         (hh_*)      :  9개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0" y="4389120"/>
            <a:ext cx="2224735" cy="25603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100" b="0">
                <a:solidFill>
                  <a:srgbClr val="000000"/>
                </a:solidFill>
                <a:latin typeface="Cascadia Code"/>
                <a:ea typeface="Cascadia Code"/>
              </a:rPr>
              <a:t>  주택         (ho_*)      :  7개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0" y="4663440"/>
            <a:ext cx="2224735" cy="25603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100" b="0">
                <a:solidFill>
                  <a:srgbClr val="000000"/>
                </a:solidFill>
                <a:latin typeface="Cascadia Code"/>
                <a:ea typeface="Cascadia Code"/>
              </a:rPr>
              <a:t>  성연령 81종  (in_age_*)  : 81개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0" y="4937760"/>
            <a:ext cx="2224735" cy="25603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100" b="0">
                <a:solidFill>
                  <a:srgbClr val="000000"/>
                </a:solidFill>
                <a:latin typeface="Cascadia Code"/>
                <a:ea typeface="Cascadia Code"/>
              </a:rPr>
              <a:t>  LP 시간 풀   (lp_pool_*) :  6개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0" y="5212080"/>
            <a:ext cx="2224735" cy="25603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100" b="0">
                <a:solidFill>
                  <a:srgbClr val="000000"/>
                </a:solidFill>
                <a:latin typeface="Cascadia Code"/>
                <a:ea typeface="Cascadia Code"/>
              </a:rPr>
              <a:t>  LP 성연령 28 (lp_demo_*) : 28개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0" y="5486400"/>
            <a:ext cx="2224735" cy="25603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100" b="0">
                <a:solidFill>
                  <a:srgbClr val="000000"/>
                </a:solidFill>
                <a:latin typeface="Cascadia Code"/>
                <a:ea typeface="Cascadia Code"/>
              </a:rPr>
              <a:t/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0" y="5760720"/>
            <a:ext cx="2224735" cy="25603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100" b="0">
                <a:solidFill>
                  <a:srgbClr val="000000"/>
                </a:solidFill>
                <a:latin typeface="Cascadia Code"/>
                <a:ea typeface="Cascadia Code"/>
              </a:rPr>
              <a:t>결측 (pop_total) : 117 OA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spc="240">
                <a:solidFill>
                  <a:srgbClr val="000000"/>
                </a:solidFill>
                <a:latin typeface="Pretendard"/>
                <a:ea typeface="Pretendard"/>
              </a:rPr>
              <a:t>OA MASTER  ·  POP CHOROPLETH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899855" y="292608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100" b="1" spc="240">
                <a:solidFill>
                  <a:srgbClr val="5E5E5E"/>
                </a:solidFill>
                <a:latin typeface="Pretendard"/>
                <a:ea typeface="Pretendard"/>
              </a:rPr>
              <a:t>TAZ STUDIO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6382512"/>
            <a:ext cx="11094415" cy="0"/>
          </a:xfrm>
          <a:prstGeom prst="line">
            <a:avLst/>
          </a:prstGeom>
          <a:ln w="7620">
            <a:solidFill>
              <a:srgbClr val="EEEE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900" b="0">
                <a:solidFill>
                  <a:srgbClr val="5E5E5E"/>
                </a:solidFill>
                <a:latin typeface="Pretendard ExtraLight"/>
                <a:ea typeface="Pretendard ExtraLight"/>
              </a:rPr>
              <a:t>TAZ · Lecture 2 · OA 마스터 구축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900" b="0" spc="50">
                <a:solidFill>
                  <a:srgbClr val="5E5E5E"/>
                </a:solidFill>
                <a:latin typeface="Pretendard ExtraLight"/>
                <a:ea typeface="Pretendard ExtraLight"/>
              </a:rPr>
              <a:t>13 / 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914400"/>
            <a:ext cx="10058400" cy="6400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0" spc="-60">
                <a:solidFill>
                  <a:srgbClr val="000000"/>
                </a:solidFill>
                <a:latin typeface="Pretendard ExtraBold"/>
                <a:ea typeface="Pretendard ExtraBold"/>
              </a:rPr>
              <a:t>OA 거주 인구 분포 — choropleth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600200"/>
            <a:ext cx="109728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500" b="0">
                <a:solidFill>
                  <a:srgbClr val="5E5E5E"/>
                </a:solidFill>
                <a:latin typeface="Pretendard Medium"/>
                <a:ea typeface="Pretendard Medium"/>
              </a:rPr>
              <a:t>19,097 OA × pop_total — vmax 는 q95 로 클리핑해 outlier 영향 줄임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331720"/>
            <a:ext cx="8046720" cy="3108960"/>
          </a:xfrm>
          <a:prstGeom prst="roundRect">
            <a:avLst>
              <a:gd name="adj" fmla="val 10588"/>
            </a:avLst>
          </a:prstGeom>
          <a:solidFill>
            <a:srgbClr val="F3F3F3"/>
          </a:solidFill>
          <a:ln w="6350">
            <a:solidFill>
              <a:srgbClr val="EEEE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22960" y="2423160"/>
            <a:ext cx="749808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1" spc="120">
                <a:solidFill>
                  <a:srgbClr val="5E5E5E"/>
                </a:solidFill>
                <a:latin typeface="Pretendard"/>
                <a:ea typeface="Pretendard"/>
              </a:rPr>
              <a:t>cell · pop choropleth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822960" y="2642616"/>
            <a:ext cx="7498080" cy="0"/>
          </a:xfrm>
          <a:prstGeom prst="line">
            <a:avLst/>
          </a:prstGeom>
          <a:ln w="5080">
            <a:solidFill>
              <a:srgbClr val="EEEE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822960" y="2734056"/>
            <a:ext cx="7498080" cy="24323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000000"/>
                </a:solidFill>
                <a:latin typeface="Cascadia Code"/>
                <a:ea typeface="Pretendard Medium"/>
              </a:rPr>
              <a:t>fig, ax = plt.subplots(figsize=(13, 11))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000000"/>
                </a:solidFill>
                <a:latin typeface="Cascadia Code"/>
                <a:ea typeface="Pretendard Medium"/>
              </a:rPr>
              <a:t>oa_master.plot(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000000"/>
                </a:solidFill>
                <a:latin typeface="Cascadia Code"/>
                <a:ea typeface="Pretendard Medium"/>
              </a:rPr>
              <a:t>    column='pop_total', cmap='YlOrRd', ax=ax,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000000"/>
                </a:solidFill>
                <a:latin typeface="Cascadia Code"/>
                <a:ea typeface="Pretendard Medium"/>
              </a:rPr>
              <a:t>    vmin=0, vmax=oa_master['pop_total'].quantile(0.95),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000000"/>
                </a:solidFill>
                <a:latin typeface="Cascadia Code"/>
                <a:ea typeface="Pretendard Medium"/>
              </a:rPr>
              <a:t>    linewidth=0, legend=True,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000000"/>
                </a:solidFill>
                <a:latin typeface="Cascadia Code"/>
                <a:ea typeface="Pretendard Medium"/>
              </a:rPr>
              <a:t>    legend_kwds={'label': 'pop_total (명)',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000000"/>
                </a:solidFill>
                <a:latin typeface="Cascadia Code"/>
                <a:ea typeface="Pretendard Medium"/>
              </a:rPr>
              <a:t>                 'shrink': 0.6},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000000"/>
                </a:solidFill>
                <a:latin typeface="Cascadia Code"/>
                <a:ea typeface="Pretendard Medium"/>
              </a:rPr>
              <a:t>    missing_kwds={'color': 'lightgray'})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000000"/>
                </a:solidFill>
                <a:latin typeface="Cascadia Code"/>
                <a:ea typeface="Pretendard Medium"/>
              </a:rPr>
              <a:t>ax.set_title('서울 19,097 OA — 거주 인구 (2024 SGIS)')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000000"/>
                </a:solidFill>
                <a:latin typeface="Cascadia Code"/>
                <a:ea typeface="Pretendard Medium"/>
              </a:rPr>
              <a:t>ax.set_axis_off(); plt.show()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869680" y="2331720"/>
            <a:ext cx="2773375" cy="4297680"/>
          </a:xfrm>
          <a:prstGeom prst="roundRect">
            <a:avLst>
              <a:gd name="adj" fmla="val 13847"/>
            </a:avLst>
          </a:prstGeom>
          <a:solidFill>
            <a:srgbClr val="FFFFFF"/>
          </a:solidFill>
          <a:ln w="9525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125712" y="2587752"/>
            <a:ext cx="2261311" cy="29260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spc="240">
                <a:solidFill>
                  <a:srgbClr val="5E5E5E"/>
                </a:solidFill>
                <a:latin typeface="Pretendard"/>
                <a:ea typeface="Pretendard"/>
              </a:rPr>
              <a:t>PATTERN NOTES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25712" y="2999232"/>
            <a:ext cx="2261311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1">
                <a:solidFill>
                  <a:srgbClr val="000000"/>
                </a:solidFill>
                <a:latin typeface="Cascadia Code"/>
                <a:ea typeface="Cascadia Code"/>
              </a:rPr>
              <a:t>quantile(0.95)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25712" y="3255264"/>
            <a:ext cx="2261311" cy="77724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100" b="0">
                <a:solidFill>
                  <a:srgbClr val="5E5E5E"/>
                </a:solidFill>
                <a:latin typeface="Pretendard Medium"/>
                <a:ea typeface="Pretendard Medium"/>
              </a:rPr>
              <a:t>최대값이 outlier 면 대부분의 OA 색이 묻힘
→ q95 로 vmax clip 해 contrast 살림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25712" y="3913632"/>
            <a:ext cx="2261311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1">
                <a:solidFill>
                  <a:srgbClr val="000000"/>
                </a:solidFill>
                <a:latin typeface="Cascadia Code"/>
                <a:ea typeface="Cascadia Code"/>
              </a:rPr>
              <a:t>linewidth=0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25712" y="4169664"/>
            <a:ext cx="2261311" cy="77724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100" b="0">
                <a:solidFill>
                  <a:srgbClr val="5E5E5E"/>
                </a:solidFill>
                <a:latin typeface="Pretendard Medium"/>
                <a:ea typeface="Pretendard Medium"/>
              </a:rPr>
              <a:t>19,097 폴리곤 — 외곽선 켜면 검정으로 묻힘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25712" y="4828032"/>
            <a:ext cx="2261311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1">
                <a:solidFill>
                  <a:srgbClr val="000000"/>
                </a:solidFill>
                <a:latin typeface="Cascadia Code"/>
                <a:ea typeface="Cascadia Code"/>
              </a:rPr>
              <a:t>missing_kwds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25712" y="5084064"/>
            <a:ext cx="2261311" cy="77724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100" b="0">
                <a:solidFill>
                  <a:srgbClr val="5E5E5E"/>
                </a:solidFill>
                <a:latin typeface="Pretendard Medium"/>
                <a:ea typeface="Pretendard Medium"/>
              </a:rPr>
              <a:t>pop_total NaN OA (~117개) 를 lightgray 로
시각 구분 — 빈 곳 ≠ 0 명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25712" y="5742432"/>
            <a:ext cx="2261311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1">
                <a:solidFill>
                  <a:srgbClr val="000000"/>
                </a:solidFill>
                <a:latin typeface="Cascadia Code"/>
                <a:ea typeface="Cascadia Code"/>
              </a:rPr>
              <a:t>legend shrink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25712" y="5998464"/>
            <a:ext cx="2261311" cy="77724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100" b="0">
                <a:solidFill>
                  <a:srgbClr val="5E5E5E"/>
                </a:solidFill>
                <a:latin typeface="Pretendard Medium"/>
                <a:ea typeface="Pretendard Medium"/>
              </a:rPr>
              <a:t>기본 legend 가 너무 크면 본 지도가 좁아짐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5577840"/>
            <a:ext cx="8046720" cy="1051560"/>
          </a:xfrm>
          <a:prstGeom prst="roundRect">
            <a:avLst>
              <a:gd name="adj" fmla="val 36521"/>
            </a:avLst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877824" y="5779008"/>
            <a:ext cx="731520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spc="240">
                <a:solidFill>
                  <a:srgbClr val="AFAFAF"/>
                </a:solidFill>
                <a:latin typeface="Pretendard"/>
                <a:ea typeface="Pretendard"/>
              </a:rPr>
              <a:t>INSIGHT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7824" y="6035040"/>
            <a:ext cx="7315200" cy="5943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300" b="0">
                <a:solidFill>
                  <a:srgbClr val="FFFFFF"/>
                </a:solidFill>
                <a:latin typeface="Pretendard Medium"/>
                <a:ea typeface="Pretendard Medium"/>
              </a:rPr>
              <a:t>외곽 (강동·강서·노원) 대형 단지 ↑  ·  도심 (종로·중구) 낮음 — workplace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spc="240">
                <a:solidFill>
                  <a:srgbClr val="000000"/>
                </a:solidFill>
                <a:latin typeface="Pretendard"/>
                <a:ea typeface="Pretendard"/>
              </a:rPr>
              <a:t>OA MASTER  ·  LP POOL COMPARE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899855" y="292608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100" b="1" spc="240">
                <a:solidFill>
                  <a:srgbClr val="5E5E5E"/>
                </a:solidFill>
                <a:latin typeface="Pretendard"/>
                <a:ea typeface="Pretendard"/>
              </a:rPr>
              <a:t>TAZ STUDIO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6382512"/>
            <a:ext cx="11094415" cy="0"/>
          </a:xfrm>
          <a:prstGeom prst="line">
            <a:avLst/>
          </a:prstGeom>
          <a:ln w="7620">
            <a:solidFill>
              <a:srgbClr val="EEEE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900" b="0">
                <a:solidFill>
                  <a:srgbClr val="5E5E5E"/>
                </a:solidFill>
                <a:latin typeface="Pretendard ExtraLight"/>
                <a:ea typeface="Pretendard ExtraLight"/>
              </a:rPr>
              <a:t>TAZ · Lecture 2 · OA 마스터 구축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900" b="0" spc="50">
                <a:solidFill>
                  <a:srgbClr val="5E5E5E"/>
                </a:solidFill>
                <a:latin typeface="Pretendard ExtraLight"/>
                <a:ea typeface="Pretendard ExtraLight"/>
              </a:rPr>
              <a:t>14 / 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914400"/>
            <a:ext cx="10058400" cy="6400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0" spc="-60">
                <a:solidFill>
                  <a:srgbClr val="000000"/>
                </a:solidFill>
                <a:latin typeface="Pretendard ExtraBold"/>
                <a:ea typeface="Pretendard ExtraBold"/>
              </a:rPr>
              <a:t>LP 시간 풀 — 새벽 vs 정오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600200"/>
            <a:ext cx="109728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500" b="0">
                <a:solidFill>
                  <a:srgbClr val="5E5E5E"/>
                </a:solidFill>
                <a:latin typeface="Pretendard Medium"/>
                <a:ea typeface="Pretendard Medium"/>
              </a:rPr>
              <a:t>같은 OA 라도 시간에 따라 인구 다름 — bed-town(02-05) vs CBD(11-15) 패턴 비교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331720"/>
            <a:ext cx="8046720" cy="4297680"/>
          </a:xfrm>
          <a:prstGeom prst="roundRect">
            <a:avLst>
              <a:gd name="adj" fmla="val 7659"/>
            </a:avLst>
          </a:prstGeom>
          <a:solidFill>
            <a:srgbClr val="F3F3F3"/>
          </a:solidFill>
          <a:ln w="6350">
            <a:solidFill>
              <a:srgbClr val="EEEE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22960" y="2423160"/>
            <a:ext cx="749808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1" spc="120">
                <a:solidFill>
                  <a:srgbClr val="5E5E5E"/>
                </a:solidFill>
                <a:latin typeface="Pretendard"/>
                <a:ea typeface="Pretendard"/>
              </a:rPr>
              <a:t>cell · resident vs midday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822960" y="2642616"/>
            <a:ext cx="7498080" cy="0"/>
          </a:xfrm>
          <a:prstGeom prst="line">
            <a:avLst/>
          </a:prstGeom>
          <a:ln w="5080">
            <a:solidFill>
              <a:srgbClr val="EEEE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822960" y="2734056"/>
            <a:ext cx="7498080" cy="362102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000000"/>
                </a:solidFill>
                <a:latin typeface="Cascadia Code"/>
                <a:ea typeface="Pretendard Medium"/>
              </a:rPr>
              <a:t>fig, axes = plt.subplots(1, 2, figsize=(18, 9))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000000"/>
                </a:solidFill>
                <a:latin typeface="Cascadia Code"/>
                <a:ea typeface="Pretendard Medium"/>
              </a:rPr>
              <a:t>vmax = oa_master['lp_pool_24h'].quantile(0.95)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000000"/>
                </a:solidFill>
                <a:latin typeface="Cascadia Code"/>
                <a:ea typeface="Pretendard Medium"/>
              </a:rPr>
              <a:t>oa_master.plot(column='lp_pool_resident_02_05',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000000"/>
                </a:solidFill>
                <a:latin typeface="Cascadia Code"/>
                <a:ea typeface="Pretendard Medium"/>
              </a:rPr>
              <a:t>    cmap='Blues', ax=axes[0],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000000"/>
                </a:solidFill>
                <a:latin typeface="Cascadia Code"/>
                <a:ea typeface="Pretendard Medium"/>
              </a:rPr>
              <a:t>    vmin=0, vmax=vmax, linewidth=0, legend=True,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000000"/>
                </a:solidFill>
                <a:latin typeface="Cascadia Code"/>
                <a:ea typeface="Pretendard Medium"/>
              </a:rPr>
              <a:t>    legend_kwds={'shrink': 0.6},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000000"/>
                </a:solidFill>
                <a:latin typeface="Cascadia Code"/>
                <a:ea typeface="Pretendard Medium"/>
              </a:rPr>
              <a:t>    missing_kwds={'color': 'lightgray'})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000000"/>
                </a:solidFill>
                <a:latin typeface="Cascadia Code"/>
                <a:ea typeface="Pretendard Medium"/>
              </a:rPr>
              <a:t>axes[0].set_title('새벽 (02-05시) — 베드타운 패턴')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000000"/>
                </a:solidFill>
                <a:latin typeface="Cascadia Code"/>
                <a:ea typeface="Pretendard Medium"/>
              </a:rPr>
              <a:t>axes[0].set_axis_off()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000000"/>
                </a:solidFill>
                <a:latin typeface="Cascadia Code"/>
                <a:ea typeface="Pretendard Medium"/>
              </a:rPr>
              <a:t>oa_master.plot(column='lp_pool_midday_11_15',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000000"/>
                </a:solidFill>
                <a:latin typeface="Cascadia Code"/>
                <a:ea typeface="Pretendard Medium"/>
              </a:rPr>
              <a:t>    cmap='Reds', ax=axes[1],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000000"/>
                </a:solidFill>
                <a:latin typeface="Cascadia Code"/>
                <a:ea typeface="Pretendard Medium"/>
              </a:rPr>
              <a:t>    vmin=0, vmax=vmax, linewidth=0, legend=True,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000000"/>
                </a:solidFill>
                <a:latin typeface="Cascadia Code"/>
                <a:ea typeface="Pretendard Medium"/>
              </a:rPr>
              <a:t>    legend_kwds={'shrink': 0.6},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000000"/>
                </a:solidFill>
                <a:latin typeface="Cascadia Code"/>
                <a:ea typeface="Pretendard Medium"/>
              </a:rPr>
              <a:t>    missing_kwds={'color': 'lightgray'})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000000"/>
                </a:solidFill>
                <a:latin typeface="Cascadia Code"/>
                <a:ea typeface="Pretendard Medium"/>
              </a:rPr>
              <a:t>axes[1].set_title('정오 (11-15시) — CBD 패턴')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000000"/>
                </a:solidFill>
                <a:latin typeface="Cascadia Code"/>
                <a:ea typeface="Pretendard Medium"/>
              </a:rPr>
              <a:t>axes[1].set_axis_off()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000000"/>
                </a:solidFill>
                <a:latin typeface="Cascadia Code"/>
                <a:ea typeface="Pretendard Medium"/>
              </a:rPr>
              <a:t>plt.show()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869680" y="2331720"/>
            <a:ext cx="2773375" cy="2057400"/>
          </a:xfrm>
          <a:prstGeom prst="roundRect">
            <a:avLst>
              <a:gd name="adj" fmla="val 18666"/>
            </a:avLst>
          </a:prstGeom>
          <a:solidFill>
            <a:srgbClr val="EFEF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125712" y="2587752"/>
            <a:ext cx="2261311" cy="29260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spc="240">
                <a:solidFill>
                  <a:srgbClr val="5E5E5E"/>
                </a:solidFill>
                <a:latin typeface="Pretendard"/>
                <a:ea typeface="Pretendard"/>
              </a:rPr>
              <a:t>새벽  ·  02-05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25712" y="2880360"/>
            <a:ext cx="2261311" cy="5029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1" spc="-20">
                <a:solidFill>
                  <a:srgbClr val="000000"/>
                </a:solidFill>
                <a:latin typeface="Pretendard"/>
                <a:ea typeface="Pretendard"/>
              </a:rPr>
              <a:t>BED-TOWN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25712" y="3456432"/>
            <a:ext cx="2261311" cy="9144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100" b="0">
                <a:solidFill>
                  <a:srgbClr val="5E5E5E"/>
                </a:solidFill>
                <a:latin typeface="Pretendard Medium"/>
                <a:ea typeface="Pretendard Medium"/>
              </a:rPr>
              <a:t>강동 · 강서 · 노원 · 도봉
거주지 인구가 가장 진하게 보임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869680" y="4572000"/>
            <a:ext cx="2773375" cy="2057400"/>
          </a:xfrm>
          <a:prstGeom prst="roundRect">
            <a:avLst>
              <a:gd name="adj" fmla="val 18666"/>
            </a:avLst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9125712" y="4828032"/>
            <a:ext cx="2261311" cy="29260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spc="240">
                <a:solidFill>
                  <a:srgbClr val="AFAFAF"/>
                </a:solidFill>
                <a:latin typeface="Pretendard"/>
                <a:ea typeface="Pretendard"/>
              </a:rPr>
              <a:t>정오  ·  11-15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25712" y="5120640"/>
            <a:ext cx="2261311" cy="5029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1" spc="-20">
                <a:solidFill>
                  <a:srgbClr val="FFFFFF"/>
                </a:solidFill>
                <a:latin typeface="Pretendard"/>
                <a:ea typeface="Pretendard"/>
              </a:rPr>
              <a:t>CBD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25712" y="5696712"/>
            <a:ext cx="2261311" cy="9144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100" b="0">
                <a:solidFill>
                  <a:srgbClr val="AFAFAF"/>
                </a:solidFill>
                <a:latin typeface="Pretendard Medium"/>
                <a:ea typeface="Pretendard Medium"/>
              </a:rPr>
              <a:t>강남 · 종로 · 여의도
workplace 신호 — Lec3 회귀 feature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spc="240">
                <a:solidFill>
                  <a:srgbClr val="000000"/>
                </a:solidFill>
                <a:latin typeface="Pretendard"/>
                <a:ea typeface="Pretendard"/>
              </a:rPr>
              <a:t>OA MASTER  ·  AGGREGATION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899855" y="292608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100" b="1" spc="240">
                <a:solidFill>
                  <a:srgbClr val="5E5E5E"/>
                </a:solidFill>
                <a:latin typeface="Pretendard"/>
                <a:ea typeface="Pretendard"/>
              </a:rPr>
              <a:t>TAZ STUDIO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6382512"/>
            <a:ext cx="11094415" cy="0"/>
          </a:xfrm>
          <a:prstGeom prst="line">
            <a:avLst/>
          </a:prstGeom>
          <a:ln w="7620">
            <a:solidFill>
              <a:srgbClr val="EEEE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900" b="0">
                <a:solidFill>
                  <a:srgbClr val="5E5E5E"/>
                </a:solidFill>
                <a:latin typeface="Pretendard ExtraLight"/>
                <a:ea typeface="Pretendard ExtraLight"/>
              </a:rPr>
              <a:t>TAZ · Lecture 2 · OA 마스터 구축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900" b="0" spc="50">
                <a:solidFill>
                  <a:srgbClr val="5E5E5E"/>
                </a:solidFill>
                <a:latin typeface="Pretendard ExtraLight"/>
                <a:ea typeface="Pretendard ExtraLight"/>
              </a:rPr>
              <a:t>15 / 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914400"/>
            <a:ext cx="10058400" cy="6400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0" spc="-60">
                <a:solidFill>
                  <a:srgbClr val="000000"/>
                </a:solidFill>
                <a:latin typeface="Pretendard ExtraBold"/>
                <a:ea typeface="Pretendard ExtraBold"/>
              </a:rPr>
              <a:t>자치구별 인구 집계 — 코드 위계 활용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600200"/>
            <a:ext cx="109728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500" b="0">
                <a:solidFill>
                  <a:srgbClr val="5E5E5E"/>
                </a:solidFill>
                <a:latin typeface="Pretendard Medium"/>
                <a:ea typeface="Pretendard Medium"/>
              </a:rPr>
              <a:t>TOT_OA_CD[:5] = 자치구 코드.  groupby 한 줄로 OA → 자치구 집계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331720"/>
            <a:ext cx="7315200" cy="3383280"/>
          </a:xfrm>
          <a:prstGeom prst="roundRect">
            <a:avLst>
              <a:gd name="adj" fmla="val 9729"/>
            </a:avLst>
          </a:prstGeom>
          <a:solidFill>
            <a:srgbClr val="F3F3F3"/>
          </a:solidFill>
          <a:ln w="6350">
            <a:solidFill>
              <a:srgbClr val="EEEE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22960" y="2423160"/>
            <a:ext cx="676656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1" spc="120">
                <a:solidFill>
                  <a:srgbClr val="5E5E5E"/>
                </a:solidFill>
                <a:latin typeface="Pretendard"/>
                <a:ea typeface="Pretendard"/>
              </a:rPr>
              <a:t>cell · sgg aggregation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822960" y="2642616"/>
            <a:ext cx="6766560" cy="0"/>
          </a:xfrm>
          <a:prstGeom prst="line">
            <a:avLst/>
          </a:prstGeom>
          <a:ln w="5080">
            <a:solidFill>
              <a:srgbClr val="EEEE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822960" y="2734056"/>
            <a:ext cx="6766560" cy="270662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000000"/>
                </a:solidFill>
                <a:latin typeface="Cascadia Code"/>
                <a:ea typeface="Pretendard Medium"/>
              </a:rPr>
              <a:t>oa_master['sgg_cd'] = (oa_master['TOT_OA_CD']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000000"/>
                </a:solidFill>
                <a:latin typeface="Cascadia Code"/>
                <a:ea typeface="Pretendard Medium"/>
              </a:rPr>
              <a:t>                          .astype(str).str[:5])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000000"/>
                </a:solidFill>
                <a:latin typeface="Cascadia Code"/>
                <a:ea typeface="Pretendard Medium"/>
              </a:rPr>
              <a:t>sgg_pop = (oa_master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000000"/>
                </a:solidFill>
                <a:latin typeface="Cascadia Code"/>
                <a:ea typeface="Pretendard Medium"/>
              </a:rPr>
              <a:t>           .groupby('sgg_cd')['pop_total']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000000"/>
                </a:solidFill>
                <a:latin typeface="Cascadia Code"/>
                <a:ea typeface="Pretendard Medium"/>
              </a:rPr>
              <a:t>           .agg(['sum', 'count'])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000000"/>
                </a:solidFill>
                <a:latin typeface="Cascadia Code"/>
                <a:ea typeface="Pretendard Medium"/>
              </a:rPr>
              <a:t>           .rename(columns={'sum':  'pop_total',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000000"/>
                </a:solidFill>
                <a:latin typeface="Cascadia Code"/>
                <a:ea typeface="Pretendard Medium"/>
              </a:rPr>
              <a:t>                            'count':'oa_count'})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000000"/>
                </a:solidFill>
                <a:latin typeface="Cascadia Code"/>
                <a:ea typeface="Pretendard Medium"/>
              </a:rPr>
              <a:t>           .sort_values('pop_total', ascending=False))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000000"/>
                </a:solidFill>
                <a:latin typeface="Cascadia Code"/>
                <a:ea typeface="Pretendard Medium"/>
              </a:rPr>
              <a:t>print('자치구별 인구·OA 수 (top 10):')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000000"/>
                </a:solidFill>
                <a:latin typeface="Cascadia Code"/>
                <a:ea typeface="Pretendard Medium"/>
              </a:rPr>
              <a:t>print(sgg_pop.head(10))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000000"/>
                </a:solidFill>
                <a:latin typeface="Cascadia Code"/>
                <a:ea typeface="Pretendard Medium"/>
              </a:rPr>
              <a:t>print(f'서울 총인구 : '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000000"/>
                </a:solidFill>
                <a:latin typeface="Cascadia Code"/>
                <a:ea typeface="Pretendard Medium"/>
              </a:rPr>
              <a:t>      f'{sgg_pop["pop_total"].sum()/1e6:.2f}M')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5852160"/>
            <a:ext cx="7315200" cy="1005840"/>
          </a:xfrm>
          <a:prstGeom prst="roundRect">
            <a:avLst>
              <a:gd name="adj" fmla="val 32727"/>
            </a:avLst>
          </a:prstGeom>
          <a:solidFill>
            <a:srgbClr val="F3F3F3"/>
          </a:solidFill>
          <a:ln w="6350">
            <a:solidFill>
              <a:srgbClr val="EEEE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22960" y="5943600"/>
            <a:ext cx="676656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1" spc="120">
                <a:solidFill>
                  <a:srgbClr val="5E5E5E"/>
                </a:solidFill>
                <a:latin typeface="Pretendard"/>
                <a:ea typeface="Pretendard"/>
              </a:rPr>
              <a:t>output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822960" y="6163056"/>
            <a:ext cx="6766560" cy="0"/>
          </a:xfrm>
          <a:prstGeom prst="line">
            <a:avLst/>
          </a:prstGeom>
          <a:ln w="5080">
            <a:solidFill>
              <a:srgbClr val="EEEE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822960" y="6254496"/>
            <a:ext cx="6766560" cy="32918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000000"/>
                </a:solidFill>
                <a:latin typeface="Cascadia Code"/>
                <a:ea typeface="Pretendard Medium"/>
              </a:rPr>
              <a:t>sgg_cd        pop_total   oa_count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000000"/>
                </a:solidFill>
                <a:latin typeface="Cascadia Code"/>
                <a:ea typeface="Pretendard Medium"/>
              </a:rPr>
              <a:t>11680 (강남)     545,210        882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000000"/>
                </a:solidFill>
                <a:latin typeface="Cascadia Code"/>
                <a:ea typeface="Pretendard Medium"/>
              </a:rPr>
              <a:t>11650 (서초)     410,830        660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000000"/>
                </a:solidFill>
                <a:latin typeface="Cascadia Code"/>
                <a:ea typeface="Pretendard Medium"/>
              </a:rPr>
              <a:t>11440 (마포)     370,210        612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000000"/>
                </a:solidFill>
                <a:latin typeface="Cascadia Code"/>
                <a:ea typeface="Pretendard Medium"/>
              </a:rPr>
              <a:t>...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000000"/>
                </a:solidFill>
                <a:latin typeface="Cascadia Code"/>
                <a:ea typeface="Pretendard Medium"/>
              </a:rPr>
              <a:t>서울 총인구 : 9.32M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38160" y="2331720"/>
            <a:ext cx="3504895" cy="4297680"/>
          </a:xfrm>
          <a:prstGeom prst="roundRect">
            <a:avLst>
              <a:gd name="adj" fmla="val 10957"/>
            </a:avLst>
          </a:prstGeom>
          <a:solidFill>
            <a:srgbClr val="FFFFFF"/>
          </a:solidFill>
          <a:ln w="9525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394192" y="2587752"/>
            <a:ext cx="2992831" cy="29260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spc="240">
                <a:solidFill>
                  <a:srgbClr val="5E5E5E"/>
                </a:solidFill>
                <a:latin typeface="Pretendard"/>
                <a:ea typeface="Pretendard"/>
              </a:rPr>
              <a:t>TOT_OA_CD SLICING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94192" y="2880360"/>
            <a:ext cx="2992831" cy="5029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1" spc="0">
                <a:solidFill>
                  <a:srgbClr val="000000"/>
                </a:solidFill>
                <a:latin typeface="Cascadia Code"/>
                <a:ea typeface="Cascadia Code"/>
              </a:rPr>
              <a:t>11010530010001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94192" y="3593592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1">
                <a:solidFill>
                  <a:srgbClr val="000000"/>
                </a:solidFill>
                <a:latin typeface="Cascadia Code"/>
                <a:ea typeface="Cascadia Code"/>
              </a:rPr>
              <a:t>[:2]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54312" y="3593592"/>
            <a:ext cx="13716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100" b="0">
                <a:solidFill>
                  <a:srgbClr val="5E5E5E"/>
                </a:solidFill>
                <a:latin typeface="Pretendard Medium"/>
                <a:ea typeface="Pretendard Medium"/>
              </a:rPr>
              <a:t>시도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725912" y="3593592"/>
            <a:ext cx="661111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100" b="0">
                <a:solidFill>
                  <a:srgbClr val="5E5E5E"/>
                </a:solidFill>
                <a:latin typeface="Cascadia Code"/>
                <a:ea typeface="Cascadia Code"/>
              </a:rPr>
              <a:t>11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94192" y="3977640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1">
                <a:solidFill>
                  <a:srgbClr val="000000"/>
                </a:solidFill>
                <a:latin typeface="Cascadia Code"/>
                <a:ea typeface="Cascadia Code"/>
              </a:rPr>
              <a:t>[:5]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54312" y="3977640"/>
            <a:ext cx="13716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100" b="0">
                <a:solidFill>
                  <a:srgbClr val="5E5E5E"/>
                </a:solidFill>
                <a:latin typeface="Pretendard Medium"/>
                <a:ea typeface="Pretendard Medium"/>
              </a:rPr>
              <a:t>시군구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725912" y="3977640"/>
            <a:ext cx="661111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100" b="0">
                <a:solidFill>
                  <a:srgbClr val="5E5E5E"/>
                </a:solidFill>
                <a:latin typeface="Cascadia Code"/>
                <a:ea typeface="Cascadia Code"/>
              </a:rPr>
              <a:t>11010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94192" y="4361688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1">
                <a:solidFill>
                  <a:srgbClr val="000000"/>
                </a:solidFill>
                <a:latin typeface="Cascadia Code"/>
                <a:ea typeface="Cascadia Code"/>
              </a:rPr>
              <a:t>[:8]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354312" y="4361688"/>
            <a:ext cx="13716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100" b="0">
                <a:solidFill>
                  <a:srgbClr val="5E5E5E"/>
                </a:solidFill>
                <a:latin typeface="Pretendard Medium"/>
                <a:ea typeface="Pretendard Medium"/>
              </a:rPr>
              <a:t>행정동(SGIS)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725912" y="4361688"/>
            <a:ext cx="661111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100" b="0">
                <a:solidFill>
                  <a:srgbClr val="5E5E5E"/>
                </a:solidFill>
                <a:latin typeface="Cascadia Code"/>
                <a:ea typeface="Cascadia Code"/>
              </a:rPr>
              <a:t>11010530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94192" y="4745736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1">
                <a:solidFill>
                  <a:srgbClr val="000000"/>
                </a:solidFill>
                <a:latin typeface="Cascadia Code"/>
                <a:ea typeface="Cascadia Code"/>
              </a:rPr>
              <a:t>[:14]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354312" y="4745736"/>
            <a:ext cx="13716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100" b="0">
                <a:solidFill>
                  <a:srgbClr val="5E5E5E"/>
                </a:solidFill>
                <a:latin typeface="Pretendard Medium"/>
                <a:ea typeface="Pretendard Medium"/>
              </a:rPr>
              <a:t>OA 일련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725912" y="4745736"/>
            <a:ext cx="661111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100" b="0">
                <a:solidFill>
                  <a:srgbClr val="5E5E5E"/>
                </a:solidFill>
                <a:latin typeface="Cascadia Code"/>
                <a:ea typeface="Cascadia Code"/>
              </a:rPr>
              <a:t>11010530010001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8394192" y="5175504"/>
            <a:ext cx="2992831" cy="0"/>
          </a:xfrm>
          <a:prstGeom prst="line">
            <a:avLst/>
          </a:prstGeom>
          <a:ln w="7620">
            <a:solidFill>
              <a:srgbClr val="EEEE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8394192" y="5266944"/>
            <a:ext cx="2992831" cy="8229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100" b="0">
                <a:solidFill>
                  <a:srgbClr val="5E5E5E"/>
                </a:solidFill>
                <a:latin typeface="Pretendard Medium"/>
                <a:ea typeface="Pretendard Medium"/>
              </a:rPr>
              <a:t>→ 자치구 25 · 행정동 426 (SGIS) 까지
   groupby 한 줄로 집계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spc="240">
                <a:solidFill>
                  <a:srgbClr val="000000"/>
                </a:solidFill>
                <a:latin typeface="Pretendard"/>
                <a:ea typeface="Pretendard"/>
              </a:rPr>
              <a:t>SUMMARY  ·  RECAP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899855" y="292608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100" b="1" spc="240">
                <a:solidFill>
                  <a:srgbClr val="5E5E5E"/>
                </a:solidFill>
                <a:latin typeface="Pretendard"/>
                <a:ea typeface="Pretendard"/>
              </a:rPr>
              <a:t>TAZ STUDIO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6382512"/>
            <a:ext cx="11094415" cy="0"/>
          </a:xfrm>
          <a:prstGeom prst="line">
            <a:avLst/>
          </a:prstGeom>
          <a:ln w="7620">
            <a:solidFill>
              <a:srgbClr val="EEEE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900" b="0">
                <a:solidFill>
                  <a:srgbClr val="5E5E5E"/>
                </a:solidFill>
                <a:latin typeface="Pretendard ExtraLight"/>
                <a:ea typeface="Pretendard ExtraLight"/>
              </a:rPr>
              <a:t>TAZ · Lecture 2 · OA 마스터 구축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900" b="0" spc="50">
                <a:solidFill>
                  <a:srgbClr val="5E5E5E"/>
                </a:solidFill>
                <a:latin typeface="Pretendard ExtraLight"/>
                <a:ea typeface="Pretendard ExtraLight"/>
              </a:rPr>
              <a:t>16 / 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914400"/>
            <a:ext cx="10058400" cy="6400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0" spc="-60">
                <a:solidFill>
                  <a:srgbClr val="000000"/>
                </a:solidFill>
                <a:latin typeface="Pretendard ExtraBold"/>
                <a:ea typeface="Pretendard ExtraBold"/>
              </a:rPr>
              <a:t>정리 — Lecture 2 에서 챙길 5가지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11680"/>
            <a:ext cx="2072579" cy="2377440"/>
          </a:xfrm>
          <a:prstGeom prst="roundRect">
            <a:avLst>
              <a:gd name="adj" fmla="val 18529"/>
            </a:avLst>
          </a:prstGeom>
          <a:solidFill>
            <a:srgbClr val="EFEF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749808" y="2212848"/>
            <a:ext cx="1670243" cy="4572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600" b="0" spc="-40">
                <a:solidFill>
                  <a:srgbClr val="AFAFAF"/>
                </a:solidFill>
                <a:latin typeface="Pretendard ExtraBold"/>
                <a:ea typeface="Pretendard ExtraBold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2715768"/>
            <a:ext cx="1670243" cy="4572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1" spc="0">
                <a:solidFill>
                  <a:srgbClr val="000000"/>
                </a:solidFill>
                <a:latin typeface="Pretendard"/>
                <a:ea typeface="Pretendard"/>
              </a:rPr>
              <a:t>SGIS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3218688"/>
            <a:ext cx="1670243" cy="12801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100" b="0">
                <a:solidFill>
                  <a:srgbClr val="5E5E5E"/>
                </a:solidFill>
                <a:latin typeface="Pretendard Medium"/>
                <a:ea typeface="Pretendard Medium"/>
              </a:rPr>
              <a:t>long format · pivot 한 줄로 wide.
N/A 는 NaN (≠ 0)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804099" y="2011680"/>
            <a:ext cx="2072579" cy="2377440"/>
          </a:xfrm>
          <a:prstGeom prst="roundRect">
            <a:avLst>
              <a:gd name="adj" fmla="val 18529"/>
            </a:avLst>
          </a:prstGeom>
          <a:solidFill>
            <a:srgbClr val="EFEF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3005267" y="2212848"/>
            <a:ext cx="1670243" cy="4572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600" b="0" spc="-40">
                <a:solidFill>
                  <a:srgbClr val="AFAFAF"/>
                </a:solidFill>
                <a:latin typeface="Pretendard ExtraBold"/>
                <a:ea typeface="Pretendard ExtraBold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05267" y="2715768"/>
            <a:ext cx="1670243" cy="4572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1" spc="0">
                <a:solidFill>
                  <a:srgbClr val="000000"/>
                </a:solidFill>
                <a:latin typeface="Pretendard"/>
                <a:ea typeface="Pretendard"/>
              </a:rPr>
              <a:t>LOCAL_PEOPLE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05267" y="3218688"/>
            <a:ext cx="1670243" cy="12801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100" b="0">
                <a:solidFill>
                  <a:srgbClr val="5E5E5E"/>
                </a:solidFill>
                <a:latin typeface="Pretendard Medium"/>
                <a:ea typeface="Pretendard Medium"/>
              </a:rPr>
              <a:t>KT 시그널링 시간대 인구.
zip 안 일별 CSV stream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59558" y="2011680"/>
            <a:ext cx="2072579" cy="2377440"/>
          </a:xfrm>
          <a:prstGeom prst="roundRect">
            <a:avLst>
              <a:gd name="adj" fmla="val 18529"/>
            </a:avLst>
          </a:prstGeom>
          <a:solidFill>
            <a:srgbClr val="EFEF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5260726" y="2212848"/>
            <a:ext cx="1670243" cy="4572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600" b="0" spc="-40">
                <a:solidFill>
                  <a:srgbClr val="AFAFAF"/>
                </a:solidFill>
                <a:latin typeface="Pretendard ExtraBold"/>
                <a:ea typeface="Pretendard ExtraBold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60726" y="2715768"/>
            <a:ext cx="1670243" cy="4572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1" spc="0">
                <a:solidFill>
                  <a:srgbClr val="000000"/>
                </a:solidFill>
                <a:latin typeface="Pretendard"/>
                <a:ea typeface="Pretendard"/>
              </a:rPr>
              <a:t>두 코드 체계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60726" y="3218688"/>
            <a:ext cx="1670243" cy="12801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100" b="0">
                <a:solidFill>
                  <a:srgbClr val="5E5E5E"/>
                </a:solidFill>
                <a:latin typeface="Pretendard Medium"/>
                <a:ea typeface="Pretendard Medium"/>
              </a:rPr>
              <a:t>2016 (13) vs 2025 (14).
면적가중 매핑이 매개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017" y="2011680"/>
            <a:ext cx="2072579" cy="2377440"/>
          </a:xfrm>
          <a:prstGeom prst="roundRect">
            <a:avLst>
              <a:gd name="adj" fmla="val 18529"/>
            </a:avLst>
          </a:prstGeom>
          <a:solidFill>
            <a:srgbClr val="EFEF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7516185" y="2212848"/>
            <a:ext cx="1670243" cy="4572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600" b="0" spc="-40">
                <a:solidFill>
                  <a:srgbClr val="AFAFAF"/>
                </a:solidFill>
                <a:latin typeface="Pretendard ExtraBold"/>
                <a:ea typeface="Pretendard ExtraBold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16185" y="2715768"/>
            <a:ext cx="1670243" cy="4572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1" spc="0">
                <a:solidFill>
                  <a:srgbClr val="000000"/>
                </a:solidFill>
                <a:latin typeface="Pretendard"/>
                <a:ea typeface="Pretendard"/>
              </a:rPr>
              <a:t>oa_master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16185" y="3218688"/>
            <a:ext cx="1670243" cy="12801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100" b="0">
                <a:solidFill>
                  <a:srgbClr val="5E5E5E"/>
                </a:solidFill>
                <a:latin typeface="Pretendard Medium"/>
                <a:ea typeface="Pretendard Medium"/>
              </a:rPr>
              <a:t>19,097 OA × 150 cols
키 + 인구 + LP + 성연령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570476" y="2011680"/>
            <a:ext cx="2072579" cy="2377440"/>
          </a:xfrm>
          <a:prstGeom prst="roundRect">
            <a:avLst>
              <a:gd name="adj" fmla="val 18529"/>
            </a:avLst>
          </a:prstGeom>
          <a:solidFill>
            <a:srgbClr val="EFEF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9771644" y="2212848"/>
            <a:ext cx="1670243" cy="4572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600" b="0" spc="-40">
                <a:solidFill>
                  <a:srgbClr val="AFAFAF"/>
                </a:solidFill>
                <a:latin typeface="Pretendard ExtraBold"/>
                <a:ea typeface="Pretendard ExtraBold"/>
              </a:rPr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771644" y="2715768"/>
            <a:ext cx="1670243" cy="4572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1" spc="0">
                <a:solidFill>
                  <a:srgbClr val="000000"/>
                </a:solidFill>
                <a:latin typeface="Pretendard"/>
                <a:ea typeface="Pretendard"/>
              </a:rPr>
              <a:t>코드 위계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771644" y="3218688"/>
            <a:ext cx="1670243" cy="12801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100" b="0">
                <a:solidFill>
                  <a:srgbClr val="5E5E5E"/>
                </a:solidFill>
                <a:latin typeface="Pretendard Medium"/>
                <a:ea typeface="Pretendard Medium"/>
              </a:rPr>
              <a:t>TOT_OA_CD[:5/:8]
groupby 한 줄 = sgg / admdong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48640" y="4754880"/>
            <a:ext cx="11094415" cy="1554480"/>
          </a:xfrm>
          <a:prstGeom prst="roundRect">
            <a:avLst>
              <a:gd name="adj" fmla="val 24705"/>
            </a:avLst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1005840" y="5212080"/>
            <a:ext cx="274320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spc="240">
                <a:solidFill>
                  <a:srgbClr val="AFAFAF"/>
                </a:solidFill>
                <a:latin typeface="Pretendard"/>
                <a:ea typeface="Pretendard"/>
              </a:rPr>
              <a:t>NEXT  ·  LECTURE 03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05840" y="548640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1" spc="-20">
                <a:solidFill>
                  <a:srgbClr val="FFFFFF"/>
                </a:solidFill>
                <a:latin typeface="Pretendard"/>
                <a:ea typeface="Pretendard"/>
              </a:rPr>
              <a:t>통행 발생 (Trip Generation) — admdong P_i / A_j 회귀 추정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991295" y="5280660"/>
            <a:ext cx="2194560" cy="5029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8991295" y="5280660"/>
            <a:ext cx="219456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000000"/>
                </a:solidFill>
                <a:latin typeface="Pretendard Medium"/>
                <a:ea typeface="Pretendard Medium"/>
              </a:rPr>
              <a:t>Open Lecture 03  →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