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LECTURE 03  ·  통행 발생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76656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0" spc="-100">
                <a:solidFill>
                  <a:srgbClr val="000000"/>
                </a:solidFill>
                <a:latin typeface="Pretendard ExtraBold"/>
                <a:ea typeface="Pretendard ExtraBold"/>
              </a:rPr>
              <a:t>Trip Generation
— P_i, A_j 회귀 추정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676656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admdong 의 출발/도착 통행수를 oa_master 변수에서 회귀로 추정.
관측 OD 의 row/col sum 이 진짜 P_obs / A_obs.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1206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Pretendard Medium"/>
                <a:ea typeface="Pretendard Medium"/>
              </a:rPr>
              <a:t>Open notebook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51206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Pretendard Medium"/>
                <a:ea typeface="Pretendard Medium"/>
              </a:rPr>
              <a:t>pi_aj_v1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097280"/>
            <a:ext cx="3870655" cy="4572000"/>
          </a:xfrm>
          <a:prstGeom prst="roundRect">
            <a:avLst>
              <a:gd name="adj" fmla="val 9922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56448" y="1481328"/>
            <a:ext cx="310255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198424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5168" y="1984248"/>
            <a:ext cx="191383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P_i, A_j 가 Lec 4 gravity
model 의 row/col marginal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56448" y="2807208"/>
            <a:ext cx="3102559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56448" y="285292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4단계 위치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5168" y="2852928"/>
            <a:ext cx="191383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1단계  ·  Trip Generation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56448" y="3675888"/>
            <a:ext cx="3102559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56448" y="372160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사전지식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3721608"/>
            <a:ext cx="191383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oa_master.parquet (Lec2)
OLS · LightGBM 기초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56448" y="4544568"/>
            <a:ext cx="3102559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56448" y="459028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이번 시간 산출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4590288"/>
            <a:ext cx="191383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pi_aj_v1.parquet
admdong × (P/A + 예측)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080760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1996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  ·  서울 통행수요 강좌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9855" y="61996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160">
                <a:solidFill>
                  <a:srgbClr val="5E5E5E"/>
                </a:solidFill>
                <a:latin typeface="Pretendard"/>
                <a:ea typeface="Pretendard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UNIT  ·  ADMDONG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3 · 통행 발생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분석 단위는 왜 admdong 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분석 단위는 ‘데이터의 입도’ 가 결정 — 관측 OD 가 admdong 으로 공개됨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3611880" cy="3108960"/>
          </a:xfrm>
          <a:prstGeom prst="roundRect">
            <a:avLst>
              <a:gd name="adj" fmla="val 12352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72384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Cascadia Code"/>
                <a:ea typeface="Cascadia Code"/>
              </a:rPr>
              <a:t>superblock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11880"/>
            <a:ext cx="3063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907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3484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도로 자연 경계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관측 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관측 OD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468880"/>
            <a:ext cx="3611880" cy="3108960"/>
          </a:xfrm>
          <a:prstGeom prst="roundRect">
            <a:avLst>
              <a:gd name="adj" fmla="val 12352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9160" y="2743200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본 강좌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072384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FFFFFF"/>
                </a:solidFill>
                <a:latin typeface="Cascadia Code"/>
                <a:ea typeface="Cascadia Code"/>
              </a:rPr>
              <a:t>admdong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611880"/>
            <a:ext cx="3063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60">
                <a:solidFill>
                  <a:srgbClr val="FFFFFF"/>
                </a:solidFill>
                <a:latin typeface="Pretendard ExtraBold"/>
                <a:ea typeface="Pretendard ExtraBold"/>
              </a:rPr>
              <a:t>426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43484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</a:rPr>
              <a:t>통행 수요 단위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8006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AFAFAF"/>
                </a:solidFill>
                <a:latin typeface="Pretendard"/>
                <a:ea typeface="Pretendard"/>
              </a:rPr>
              <a:t>관측 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5029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Cascadia Code"/>
                <a:ea typeface="Cascadia Code"/>
              </a:rPr>
              <a:t>admdong_od_20240327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2468880"/>
            <a:ext cx="3611880" cy="3108960"/>
          </a:xfrm>
          <a:prstGeom prst="roundRect">
            <a:avLst>
              <a:gd name="adj" fmla="val 12352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595360" y="2743200"/>
            <a:ext cx="3063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검증용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072384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Cascadia Code"/>
                <a:ea typeface="Cascadia Code"/>
              </a:rPr>
              <a:t>자치구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611880"/>
            <a:ext cx="3063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43484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정책 단위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8006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관측 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029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gu_hourly_od_202310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ADMDONG  ·  TWO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3 · 통행 발생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admdong 코드 체계 — 행안부 vs SGIS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같은 동, 다른 코드 — 시군구 segment 가 다름.  boundary geojson 이 매개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6583680" cy="4297680"/>
          </a:xfrm>
          <a:prstGeom prst="roundRect">
            <a:avLst>
              <a:gd name="adj" fmla="val 8936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2624328"/>
            <a:ext cx="599846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EXAMPLE  ·  청운효자동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953512"/>
            <a:ext cx="599846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종로구 청운효자동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584448"/>
            <a:ext cx="2884932" cy="2286000"/>
          </a:xfrm>
          <a:prstGeom prst="roundRect">
            <a:avLst>
              <a:gd name="adj" fmla="val 168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24128" y="3767328"/>
            <a:ext cx="25191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행안부  ·  admdong_od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087368"/>
            <a:ext cx="251917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100">
                <a:solidFill>
                  <a:srgbClr val="000000"/>
                </a:solidFill>
                <a:latin typeface="Cascadia Code"/>
                <a:ea typeface="Cascadia Code"/>
              </a:rPr>
              <a:t>11110515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864608"/>
            <a:ext cx="251917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종로  ·  11110 segment
O_ADMDONG_CD / D_ADMDONG_CD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54780" y="3584448"/>
            <a:ext cx="2884932" cy="2286000"/>
          </a:xfrm>
          <a:prstGeom prst="roundRect">
            <a:avLst>
              <a:gd name="adj" fmla="val 168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137660" y="3767328"/>
            <a:ext cx="25191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SGIS  ·  oa_master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7660" y="4087368"/>
            <a:ext cx="251917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100">
                <a:solidFill>
                  <a:srgbClr val="FFFFFF"/>
                </a:solidFill>
                <a:latin typeface="Cascadia Code"/>
                <a:ea typeface="Cascadia Code"/>
              </a:rPr>
              <a:t>11010515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7660" y="4864608"/>
            <a:ext cx="251917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Cascadia Code"/>
                <a:ea typeface="Cascadia Code"/>
              </a:rPr>
              <a:t>종로  ·  11010 segment
ADM_CD / TOT_OA_CD[:8]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331720"/>
            <a:ext cx="4236415" cy="4297680"/>
          </a:xfrm>
          <a:prstGeom prst="roundRect">
            <a:avLst>
              <a:gd name="adj" fmla="val 9065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662672" y="2587752"/>
            <a:ext cx="372435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BRIDGE  ·  GEOJSON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2880360"/>
            <a:ext cx="3724351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spc="0">
                <a:solidFill>
                  <a:srgbClr val="000000"/>
                </a:solidFill>
                <a:latin typeface="Cascadia Code"/>
                <a:ea typeface="Cascadia Code"/>
              </a:rPr>
              <a:t>admdong_2023
.geojson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2" y="3776472"/>
            <a:ext cx="372435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Pretendard"/>
                <a:ea typeface="Pretendard"/>
              </a:rPr>
              <a:t>한 행에 두 코드 동시 보관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423367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adm_cd2[:8]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423367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4233672"/>
            <a:ext cx="203271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행안부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2" y="454456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adm_cd8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4544568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4544568"/>
            <a:ext cx="203271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SGIS 8자리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2" y="4855464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adm_cd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42832" y="485546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2" y="4855464"/>
            <a:ext cx="203271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SGIS 단축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516636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adm_nm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2832" y="516636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str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4312" y="5166360"/>
            <a:ext cx="203271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동 이름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SETUP  ·  IMPORTS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3 · 통행 발생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환경 설정 + Imports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Lec1·2 의 ROOT/RAW/DRV + lecture_outputs (산출 파일 폴더)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3931920"/>
          </a:xfrm>
          <a:prstGeom prst="roundRect">
            <a:avLst>
              <a:gd name="adj" fmla="val 8372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setup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255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import os, warnings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import numpy as np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import pandas as pd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import geopandas as gpd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import matplotlib.pyplot as plt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from shapely.geometry import Point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warnings.filterwarnings('ignore')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%matplotlib inline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plt.rcParams['figure.figsize']     = (10, 6)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plt.rcParams['font.family']        = 'Malgun Gothic'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plt.rcParams['axes.unicode_minus'] = False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ROOT    = r'F:\research\TAZ'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RAW     = os.path.join(ROOT, 'data', 'raw')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DRV     = os.path.join(ROOT, 'data', 'derived')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OUT_DIR = os.path.join(DRV, 'lecture_outputs')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os.makedirs(OUT_DIR, exist_ok=True)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print('OK')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393192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25712" y="258775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304495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3300984"/>
            <a:ext cx="226131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CBD 좌표 한 점 — geometry.distance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38862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OUT_DIR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4142232"/>
            <a:ext cx="226131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lecture_outputs 폴더에
Lec3·4 산출물 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4727448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statsmodels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4983480"/>
            <a:ext cx="226131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OLS  ·  GLM(Poisson) — Lec4 에서도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556869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lightgbm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5824728"/>
            <a:ext cx="226131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비선형 예측 — feature importance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ADMDONG  · 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3 · 통행 발생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admdong 경계 로드 + 두 코드 동시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adm_cd2 [:8] (행안부)  +  adm_cd8 (SGIS) 를 int 로 변환해 join 편하게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load + dual keys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boundary = gpd.read_file(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os.path.join(RAW, 'admdong_boundary',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'admdong_2023.geojson'))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seoul = boundary[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boundary['sidonm'].str.contains('서울', na=False)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].copy()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print(f'서울 admdong : {len(seoul)}')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# 두 체계 키 동시 보관 (int 로 변환)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seoul['adm_cd_haengan'] = (seoul['adm_cd2']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             .astype(str).str[:8].astype(int))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seoul['adm_cd_sgis']    = seoul['adm_cd8'].astype(int)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seoul = seoul.to_crs(5179)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seoul['area_m2'] = seoul.geometry.area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print(seoul[['adm_nm','adm_cd_haengan',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     'adm_cd_sgis','area_m2']].head())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429768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25712" y="258775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2999232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1472" y="2999232"/>
            <a:ext cx="189555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filter 서울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91472" y="3255264"/>
            <a:ext cx="1895551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sidonm contains '서울'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3867912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3867912"/>
            <a:ext cx="189555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두 코드 추출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4123944"/>
            <a:ext cx="1895551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adm_cd2[:8]  +  adm_cd8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4736592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2" y="4736592"/>
            <a:ext cx="189555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int 변환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1472" y="4992624"/>
            <a:ext cx="1895551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join key 는 int 로 통일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5605272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5605272"/>
            <a:ext cx="189555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to_crs(5179)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5861304"/>
            <a:ext cx="1895551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면적 계산 m² 표준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OA → ADMDONG  · 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3 · 통행 발생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OA → admdong 변수 집계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adm_cd_sgis = TOT_OA_CD[:8]  →  groupby + sum / 인구가중 wmean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5852160" cy="1325880"/>
          </a:xfrm>
          <a:prstGeom prst="roundRect">
            <a:avLst>
              <a:gd name="adj" fmla="val 28965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04672" y="263347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oa_master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94436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19,097 OA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33472"/>
            <a:ext cx="2761488" cy="8138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adm_cd_sgis = TOT_OA_CD[:8]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74720" y="3721608"/>
            <a:ext cx="0" cy="192024"/>
          </a:xfrm>
          <a:prstGeom prst="line">
            <a:avLst/>
          </a:prstGeom>
          <a:ln w="12700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8640" y="3931920"/>
            <a:ext cx="5852160" cy="1325880"/>
          </a:xfrm>
          <a:prstGeom prst="roundRect">
            <a:avLst>
              <a:gd name="adj" fmla="val 2896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4672" y="418795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FFFFFF"/>
                </a:solidFill>
                <a:latin typeface="Pretendard"/>
                <a:ea typeface="Pretendard"/>
              </a:rPr>
              <a:t>groupby + agg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49884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sum / wmean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187952"/>
            <a:ext cx="2761488" cy="8138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AFAFAF"/>
                </a:solidFill>
                <a:latin typeface="Cascadia Code"/>
                <a:ea typeface="Cascadia Code"/>
              </a:rPr>
              <a:t>sum : pop_total, hh_count, lp_pool_*
wmean : aging_idx, hh_avg_size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74720" y="5276088"/>
            <a:ext cx="0" cy="192024"/>
          </a:xfrm>
          <a:prstGeom prst="line">
            <a:avLst/>
          </a:prstGeom>
          <a:ln w="12700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5486400"/>
            <a:ext cx="5852160" cy="1325880"/>
          </a:xfrm>
          <a:prstGeom prst="roundRect">
            <a:avLst>
              <a:gd name="adj" fmla="val 28965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4672" y="574243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admdong 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605332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426 admdong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742432"/>
            <a:ext cx="2761488" cy="8138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merge with boundary  ·  adm_g (geo + 변수)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2377440"/>
            <a:ext cx="4876495" cy="4434840"/>
          </a:xfrm>
          <a:prstGeom prst="roundRect">
            <a:avLst>
              <a:gd name="adj" fmla="val 8659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040880" y="2651760"/>
            <a:ext cx="432785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AGG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063240"/>
            <a:ext cx="43278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sum  (선형 합산)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337560"/>
            <a:ext cx="4327855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pop_total, hh_count, ho_total
lp_pool_resident_02_05
lp_pool_morning_07_10
lp_pool_midday_11_15
lp_pool_evening_18_21
lp_pool_24h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983480"/>
            <a:ext cx="432785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wmean  (인구가중)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257800"/>
            <a:ext cx="4327855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aging_idx, hh_avg_size
→ 작은 OA 의 비율 변수가
   큰 OA 에 묻히지 않게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AGGREGATION  · 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3 · 통행 발생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groupby sum  +  인구가중 wmean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두 종류 — sum 한 줄 vs wmean 함수 정의 후 apply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77824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oa→admdong aggregation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822960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822960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m = pd.read_parquet(os.path.join(DRV, 'oa_master.parquet'))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m['adm_cd_sgis'] = (m['TOT_OA_CD']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      .astype(str).str[:8].astype(int))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sum_cols = ['pop_total','hh_count','ho_total',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'lp_pool_resident_02_05','lp_pool_morning_07_10',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'lp_pool_midday_11_15','lp_pool_evening_18_21',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'lp_pool_24h']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adm = m.groupby('adm_cd_sgis')[sum_cols].sum().reset_index()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def wmean(g, val, w='pop_total'):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ww = g[w].fillna(0); v = g[val]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return float((v*ww).sum() / ww.sum()) if ww.sum() &gt; 0 \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else v.mean()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for c in ['aging_idx','hh_avg_size']: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s_ = (m.groupby('adm_cd_sgis')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.apply(lambda g: wmean(g, c)).rename(f'{c}_w'))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adm = adm.merge(s_.reset_index(), on='adm_cd_sgis')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# 경계 + 변환표와 join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adm_g = seoul[['adm_cd_haengan','adm_cd_sgis','adm_nm',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  'sgg','sggnm','area_m2','geometry']] \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.merge(adm, on='adm_cd_sgis', how='left')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2331720"/>
            <a:ext cx="2041855" cy="4297680"/>
          </a:xfrm>
          <a:prstGeom prst="roundRect">
            <a:avLst>
              <a:gd name="adj" fmla="val 18808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838944" y="2569464"/>
            <a:ext cx="156636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WHY wmean?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38944" y="2862072"/>
            <a:ext cx="1566367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비율 변수는
단순 평균 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38944" y="3758184"/>
            <a:ext cx="1566367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aging_idx 가 0.6 인 OA(10명) 와
0.1 인 OA(5,000명) 의 평균은
단순 mean = 0.35 이 아니라,
인구가중 ≈ 0.10.
wmean 으로 큰 OA 의 비중을
반영해 admdong 대표값 산출.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OBS OD  · 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3 · 통행 발생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관측 OD — admdong_od_20240327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KT 시그널링 기반 admdong O × D 통행 행렬.  row sum = P_obs, col sum = A_obs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3576218" cy="1417320"/>
          </a:xfrm>
          <a:prstGeom prst="roundRect">
            <a:avLst>
              <a:gd name="adj" fmla="val 27096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86384" y="2615184"/>
            <a:ext cx="310073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행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889504"/>
            <a:ext cx="310073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6.7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438144"/>
            <a:ext cx="310073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전국 admdong × admdong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7738" y="2377440"/>
            <a:ext cx="3576218" cy="1417320"/>
          </a:xfrm>
          <a:prstGeom prst="roundRect">
            <a:avLst>
              <a:gd name="adj" fmla="val 27096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45482" y="2615184"/>
            <a:ext cx="310073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필터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5482" y="2889504"/>
            <a:ext cx="310073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서울 + 내국인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5482" y="3438144"/>
            <a:ext cx="310073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코드 11 + IN_FORN_DIV_NM=1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6836" y="2377440"/>
            <a:ext cx="3576218" cy="1417320"/>
          </a:xfrm>
          <a:prstGeom prst="roundRect">
            <a:avLst>
              <a:gd name="adj" fmla="val 27096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04580" y="2615184"/>
            <a:ext cx="310073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산출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4580" y="2889504"/>
            <a:ext cx="310073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P_obs · A_obs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4580" y="3438144"/>
            <a:ext cx="310073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row / col sum 시간대별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69080"/>
            <a:ext cx="5432907" cy="2286000"/>
          </a:xfrm>
          <a:prstGeom prst="roundRect">
            <a:avLst>
              <a:gd name="adj" fmla="val 168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4343400"/>
            <a:ext cx="488426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SCHEMA  ·  9 cols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09160"/>
            <a:ext cx="488426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O_ADMDONG_CD  ·  D_ADMDONG_CD     (행안부 8자리)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01768"/>
            <a:ext cx="488426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ST_TIME_CD    ·  FNS_TIME_CD       (출발 / 도착 시간)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94376"/>
            <a:ext cx="488426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IN_FORN_DIV_NM                       (내국인=1)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86984"/>
            <a:ext cx="488426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MOVE_PURPOSE                         (목적 코드)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79592"/>
            <a:ext cx="488426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MOVE_DIST  ·  MOVE_TIME  ·  CNT     (거리·시간·통행수)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0147" y="4069080"/>
            <a:ext cx="5432907" cy="2286000"/>
          </a:xfrm>
          <a:prstGeom prst="roundRect">
            <a:avLst>
              <a:gd name="adj" fmla="val 168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84467" y="4343400"/>
            <a:ext cx="488426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P_obs  ·  A_obs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4467" y="4672584"/>
            <a:ext cx="488426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FFFFFF"/>
                </a:solidFill>
                <a:latin typeface="Pretendard"/>
                <a:ea typeface="Pretendard"/>
              </a:rPr>
              <a:t>관측 row/col sum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4467" y="5349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P_obs(i)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1787" y="5349240"/>
            <a:ext cx="346694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Cascadia Code"/>
                <a:ea typeface="Cascadia Code"/>
              </a:rPr>
              <a:t>= Σ_j  CNT(i → j)   (출발 합)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4467" y="564184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A_obs(j)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1787" y="5641848"/>
            <a:ext cx="346694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Cascadia Code"/>
                <a:ea typeface="Cascadia Code"/>
              </a:rPr>
              <a:t>= Σ_i  CNT(i → j)   (도착 합)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4467" y="593445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1787" y="5934456"/>
            <a:ext cx="346694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Cascadia Code"/>
                <a:ea typeface="Cascadia Code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4467" y="622706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P/A ratio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1787" y="6227064"/>
            <a:ext cx="346694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Cascadia Code"/>
                <a:ea typeface="Cascadia Code"/>
              </a:rPr>
              <a:t>≈ 1.0  (동일 인구의 출발 = 도착)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OBS OD  ·  FILTER + BANDS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3 · 통행 발생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OD 로드 → 서울 필터 → 시간대별 P/A 산출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4개 시간 band (total / morning / midday / evening) 동시 산출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77824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filter + bands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822960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822960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od = pd.read_parquet(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os.path.join(RAW, 'seoul_living_movement',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'admdong_od_20240327.parquet'))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# 서울 O×D + 내국인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o_seoul = od['O_ADMDONG_CD'].astype(str).str.startswith('11')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d_seoul = od['D_ADMDONG_CD'].astype(str).str.startswith('11')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od = od[o_seoul &amp; d_seoul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&amp; (od['IN_FORN_DIV_NM'] == 1)].copy()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# 시간대별 P / 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BANDS = [('total',0,23), ('morning',7,9),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('midday',10,15), ('evening',17,19)]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for lbl, lo, hi in BANDS: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sub = od[od['ST_TIME_CD'].between(lo, hi)]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p = (sub.groupby('O_ADMDONG_CD')['CNT']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.sum().rename(f'P_{lbl}'))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a = (sub.groupby('D_ADMDONG_CD')['CNT']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.sum().rename(f'A_{lbl}'))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adm_g = adm_g.merge(p.reset_index().rename(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columns={'O_ADMDONG_CD':'adm_cd_haengan'}),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on='adm_cd_haengan', how='left')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adm_g = adm_g.merge(a.reset_index().rename(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columns={'D_ADMDONG_CD':'adm_cd_haengan'}),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on='adm_cd_haengan', how='left')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adm_g['P_obs'] = adm_g['P_total']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adm_g['A_obs'] = adm_g['A_total']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2331720"/>
            <a:ext cx="2041855" cy="4297680"/>
          </a:xfrm>
          <a:prstGeom prst="roundRect">
            <a:avLst>
              <a:gd name="adj" fmla="val 18808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838944" y="2569464"/>
            <a:ext cx="156636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4 BANDS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38944" y="289864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838944" y="2898648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73384" y="2953512"/>
            <a:ext cx="33192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0–23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38944" y="342900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838944" y="34290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morning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73384" y="3483864"/>
            <a:ext cx="33192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7–9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38944" y="3959352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838944" y="395935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midday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73384" y="4014216"/>
            <a:ext cx="33192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10–15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38944" y="4489704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838944" y="4489704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</a:rPr>
              <a:t>evening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73384" y="4544568"/>
            <a:ext cx="33192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17–19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838944" y="5065776"/>
            <a:ext cx="1566367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838944" y="5157216"/>
            <a:ext cx="1566367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P/A 비 ≈ 1.0
→ 동일 인구의 출발=도착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LP-PROXY  · 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3 · 통행 발생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LP-차이 proxy — 가설 vs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‘출근 후 빠진 인구 = 출근 통행’ 가설 검증.  결과는 예상과 다름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6949440" cy="4297680"/>
          </a:xfrm>
          <a:prstGeom prst="roundRect">
            <a:avLst>
              <a:gd name="adj" fmla="val 8936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2624328"/>
            <a:ext cx="636422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916936"/>
            <a:ext cx="636422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Stock 차이로 flow 가설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538728"/>
            <a:ext cx="636422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out_A_signed  =  lp_resident  −  lp_morning      (signed)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849624"/>
            <a:ext cx="636422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outflow_A     =  max(0, out_A_signed)            (clipped)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160520"/>
            <a:ext cx="636422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inflow_A      =  max(0, − out_A_signed)          (workplace)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1248" y="4562856"/>
            <a:ext cx="6364224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4654296"/>
            <a:ext cx="636422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→ outflow_A 가 P_morning 과 강하게 상관일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294376"/>
            <a:ext cx="63642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·  stock 차이 ≠ flow 합   (차원 다름)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605272"/>
            <a:ext cx="63642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·  clip(0) → workplace 신호 0 으로 뭉개짐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916168"/>
            <a:ext cx="6364224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·  단순 raw lp_pool_24h 가 r = +0.88  ·  복잡한 proxy 불필요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331720"/>
            <a:ext cx="3870655" cy="4297680"/>
          </a:xfrm>
          <a:prstGeom prst="roundRect">
            <a:avLst>
              <a:gd name="adj" fmla="val 9922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28432" y="2587752"/>
            <a:ext cx="335859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ACTUAL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2" y="2880360"/>
            <a:ext cx="335859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FFFFFF"/>
                </a:solidFill>
                <a:latin typeface="Cascadia Code"/>
                <a:ea typeface="Cascadia Code"/>
              </a:rPr>
              <a:t>Pearson 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2" y="36850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Cascadia Code"/>
                <a:ea typeface="Cascadia Code"/>
              </a:rPr>
              <a:t>outflow_A vs P_morning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28832" y="3685032"/>
            <a:ext cx="1581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+0.30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2" y="40507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Cascadia Code"/>
                <a:ea typeface="Cascadia Code"/>
              </a:rPr>
              <a:t>out_A_signed vs P_total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28832" y="4050792"/>
            <a:ext cx="1581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−0.78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2" y="44165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Cascadia Code"/>
                <a:ea typeface="Cascadia Code"/>
              </a:rPr>
              <a:t>lp_resident vs P_total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28832" y="4416552"/>
            <a:ext cx="1581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+0.62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2" y="47823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Cascadia Code"/>
                <a:ea typeface="Cascadia Code"/>
              </a:rPr>
              <a:t>lp_pool_24h vs P_total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28832" y="4782312"/>
            <a:ext cx="1581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300" b="1">
                <a:solidFill>
                  <a:srgbClr val="FFFFFF"/>
                </a:solidFill>
                <a:latin typeface="Cascadia Code"/>
                <a:ea typeface="Cascadia Code"/>
              </a:rPr>
              <a:t>+0.88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LP-PROXY  · 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3 · 통행 발생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proxy vs 관측 시간대 — Pearson r 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baseline (raw LP) 와 proxy 를 같이 찍어, 복잡도 vs 단순함 비교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77824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corr matrix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822960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822960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# signed proxy 정의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r       = adm_g['lp_pool_resident_02_05']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m_pool  = adm_g['lp_pool_morning_07_10']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d_pool  = adm_g['lp_pool_midday_11_15']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adm_g['out_A_signed'] = r - m_pool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adm_g['outflow_A']    = adm_g['out_A_signed'].clip(lower=0)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adm_g['inflow_A']     = (-adm_g['out_A_signed']).clip(lower=0)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# proxy vs P_obs 상관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print('=== outflow proxy vs P_obs ===')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for proxy in ['out_A_signed','outflow_A']: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line = f'  {proxy:&lt;14}'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for col in ['P_morning','P_midday','P_total']: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v = adm_g[[proxy, col]].dropna()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line += f'  {v[proxy].corr(v[col]):&gt;+7.3f}'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print(line)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print('--- baseline ---')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for proxy in ['lp_pool_resident_02_05','lp_pool_24h']: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v = adm_g[[proxy, 'P_total']].dropna()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r_ = v[proxy].corr(v['P_total'])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print(f'  {proxy:&lt;28}  r = {r_:+.3f}')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2331720"/>
            <a:ext cx="2041855" cy="4297680"/>
          </a:xfrm>
          <a:prstGeom prst="roundRect">
            <a:avLst>
              <a:gd name="adj" fmla="val 18808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857232" y="2587752"/>
            <a:ext cx="152979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LESSONS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7232" y="2953512"/>
            <a:ext cx="15297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dimension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57232" y="3209544"/>
            <a:ext cx="1529791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Stock 차이 ≠ flow 합 — 차원이 달라
근본적으로 약한 상관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57232" y="4050792"/>
            <a:ext cx="15297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clip(0)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7232" y="4306824"/>
            <a:ext cx="1529791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workplace 신호가 0 으로 뭉개짐
→ signed 가 더 정보 많음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5148072"/>
            <a:ext cx="152979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baseline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7232" y="5404104"/>
            <a:ext cx="1529791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lp_pool_24h 단독 r = +0.88
복잡한 proxy 만들기 전
baseline 확인 필수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REGRESSION  ·  OLS + LGBM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3 · 통행 발생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회귀 — P_obs ~ 인구·구조 변수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OLS (계수 해석)  +  LightGBM (비선형 예측).  log(target+1) 변환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OLS + LGBM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# CBD 거리 feature 추가 (시청·광화문)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cbd = gpd.GeoSeries([Point(126.9784, 37.5665)],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   crs=4326).to_crs(5179).iloc[0]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adm_g['dist_cbd_km'] = (adm_g.geometry.centroid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             .distance(cbd) / 1000)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FEATURES = ['pop_total','hh_count','hh_avg_size_w',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'aging_idx_w','ho_total','area_m2','dist_cbd_km']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df_model = (adm_g[['adm_cd_haengan','adm_nm','sgg','sggnm',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  'P_obs','A_obs'] + FEATURES + ['geometry']]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  .dropna())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# OLS — log(target + 1) ~ log(features)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import statsmodels.api as sm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X = df_model[FEATURES].copy()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for c in ['pop_total','hh_count','ho_total','area_m2','dist_cbd_km']: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X[f'log_{c}'] = np.log1p(X[c]); X = X.drop(columns=c)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X = sm.add_constant(X)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y_P = np.log1p(df_model['P_obs'])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ols_P = sm.OLS(y_P, X).fit()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print(f'OLS R² (log P_obs) : {ols_P.rsquared:.3f}')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# LightGBM — 비선형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import lightgbm as lgb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gbm_P = lgb.LGBMRegressor(n_estimators=300, learning_rate=0.05,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         num_leaves=31, random_state=0, verbose=-1)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gbm_P.fit(df_model[FEATURES], y_P)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429768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25712" y="258775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FEATURES →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2953512"/>
            <a:ext cx="22613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pop_total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3246120"/>
            <a:ext cx="22613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hh_count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3538728"/>
            <a:ext cx="22613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hh_avg_size_w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3831336"/>
            <a:ext cx="22613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aging_idx_w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4123944"/>
            <a:ext cx="22613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ho_total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4416552"/>
            <a:ext cx="22613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area_m2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4709160"/>
            <a:ext cx="226131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dist_cbd_km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25712" y="5093208"/>
            <a:ext cx="2261311" cy="5029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25712" y="5093208"/>
            <a:ext cx="2261311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5000"/>
              </a:lnSpc>
            </a:pPr>
            <a:r>
              <a:rPr sz="1100" b="1">
                <a:solidFill>
                  <a:srgbClr val="FFFFFF"/>
                </a:solidFill>
                <a:latin typeface="Cascadia Code"/>
                <a:ea typeface="Cascadia Code"/>
              </a:rPr>
              <a:t>log(P_obs + 1)  ·  log(A_obs + 1)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VALIDATION  ·  SPATIAL CV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3 · 통행 발생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Spatial CV — 옆 admdong 누수 차단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random 5-fold vs GroupKFold(sgg) — R² 정직히 측정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410047" cy="2926080"/>
          </a:xfrm>
          <a:prstGeom prst="roundRect">
            <a:avLst>
              <a:gd name="adj" fmla="val 13125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2624328"/>
            <a:ext cx="482483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RANDOM 5-FOLD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953512"/>
            <a:ext cx="4824831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낙관적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538728"/>
            <a:ext cx="4824831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같은 자치구 옆 admdong 이
train / test 에 섞여 들어감.
공간 자기상관 (spatial
autocorrelation) 으로
R² 가 과대평가.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331720"/>
            <a:ext cx="5410047" cy="2926080"/>
          </a:xfrm>
          <a:prstGeom prst="roundRect">
            <a:avLst>
              <a:gd name="adj" fmla="val 1312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25615" y="2624328"/>
            <a:ext cx="482483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SPATIAL (sgg)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5615" y="2953512"/>
            <a:ext cx="4824831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FFFFFF"/>
                </a:solidFill>
                <a:latin typeface="Pretendard"/>
                <a:ea typeface="Pretendard"/>
              </a:rPr>
              <a:t>정직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5615" y="3538728"/>
            <a:ext cx="4824831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GroupKFold(n_splits=5)
with groups = sgg.
모르는 자치구 예측 능력
측정 — 실제 일반화 성능.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86400"/>
            <a:ext cx="11094415" cy="1143000"/>
          </a:xfrm>
          <a:prstGeom prst="roundRect">
            <a:avLst>
              <a:gd name="adj" fmla="val 2879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5577840"/>
            <a:ext cx="1054577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CV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5797296"/>
            <a:ext cx="10545775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5888736"/>
            <a:ext cx="10545775" cy="4663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def cv_score(X, y, splitter, groups=None, label=''):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rs = []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for tr, te in splitter.split(X, y, groups=groups):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    m = lgb.LGBMRegressor(n_estimators=300, learning_rate=0.05,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             num_leaves=31, random_state=0, verbose=-1)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    m.fit(X.iloc[tr], y.iloc[tr])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    rs.append(r2_score(y.iloc[te], m.predict(X.iloc[te])))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print(f'  {label:&lt;25} R² mean={np.mean(rs):.3f}')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    return 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groups = df_model['sgg'].values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_ = cv_score(X_gbm, y_P, KFold(5, shuffle=True, random_state=0), label='random')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Cascadia Code"/>
                <a:ea typeface="Pretendard Medium"/>
              </a:rPr>
              <a:t>_ = cv_score(X_gbm, y_P, GroupKFold(5), groups=groups,         label='spatial')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RESIDUALS  + 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3 · 통행 발생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잔차 진단 + pi_aj_v1.parquet 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잔차가 큰 자치구 = 다음 feature 후보  ·  결과를 Lec 4 입력으로 저장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residuals + save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# 잔차 추출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df_model['P_pred_ols'] = ols_P.predict(X)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df_model['resid_P']    = y_P - df_model['P_pred_ols']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df_model['resid_A']    = y_A - ols_A.predict(X)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# 자치구별 잔차 평균 (절대값 큰 = FE 후보)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sgg_resid = (df_model.groupby('sggnm')[['resid_P','resid_A']]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    .mean().round(3))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top_resid = sgg_resid.reindex(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sgg_resid['resid_P'].abs().sort_values(ascending=False).index)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print(top_resid.head(10))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# pi_aj_v1.parquet 저장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df_model['P_pred_gbm'] = np.expm1(gbm_P.predict(X_gbm))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df_model['A_pred_gbm'] = np.expm1(gbm_A.predict(X_gbm))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out_cols   = ['adm_cd_haengan','P_obs','A_obs',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 'P_pred_gbm','A_pred_gbm','resid_P','resid_A']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proxy_cols = ['outflow_A','outflow_B','outflow_C',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 'out_A_signed','out_B_signed','out_C_signed']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out = (adm_g[['adm_cd_haengan'] + proxy_cols]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.merge(df_model[out_cols], on='adm_cd_haengan', how='right'))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out_path = os.path.join(OUT_DIR, 'pi_aj_v1.parquet')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out.to_parquet(out_path)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print(f'saved : {out_path}')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429768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25712" y="258775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pi_aj_v1.parquet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2880360"/>
            <a:ext cx="226131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426 admdong
× 16 cols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377647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adm_cd_haengan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20272" y="3776472"/>
            <a:ext cx="667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행안부 키 — Lec4 join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410565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P_obs · A_obs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0272" y="4105656"/>
            <a:ext cx="667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관측 통행 (row/col sum)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443484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P_pred_gbm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20272" y="4434840"/>
            <a:ext cx="667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LightGBM 예측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476402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A_pred_gbm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20272" y="4764024"/>
            <a:ext cx="667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LightGBM 예측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509320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resid_*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20272" y="5093208"/>
            <a:ext cx="667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OLS 잔차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542239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outflow_*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20272" y="5422392"/>
            <a:ext cx="667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LP-proxy (비교 보존)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SUMMARY  · 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3 · 통행 발생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정리 — Lecture 3 에서 챙길 5가지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단위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admdong (426)
관측 OD 자연 단위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4099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05267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5267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두 코드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5267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행안부 vs SGIS
boundary geojson 매개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59558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60726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0726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P_obs / A_obs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0726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admdong_od 의
row / col sum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017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6185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185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LP-proxy 교훈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185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stock ≠ flow
baseline 먼저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70476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771644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1644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Spatial CV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1644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GroupKFold(sgg)
옆 admdong 누수 차단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54880"/>
            <a:ext cx="11094415" cy="1554480"/>
          </a:xfrm>
          <a:prstGeom prst="roundRect">
            <a:avLst>
              <a:gd name="adj" fmla="val 2470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05840" y="521208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NEXT  ·  LECTURE 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486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FFFFFF"/>
                </a:solidFill>
                <a:latin typeface="Pretendard"/>
                <a:ea typeface="Pretendard"/>
              </a:rPr>
              <a:t>Trip Distribution — Poisson gravity GLM + IPF + 정량 검증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91295" y="52806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991295" y="52806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Pretendard Medium"/>
                <a:ea typeface="Pretendard Medium"/>
              </a:rPr>
              <a:t>Open Lecture 04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