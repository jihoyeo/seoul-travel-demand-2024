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097280"/>
            <a:ext cx="640080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LECTURE 01  ·  4 OF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6583680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4400" b="0" spc="-100">
                <a:solidFill>
                  <a:srgbClr val="000000"/>
                </a:solidFill>
                <a:latin typeface="Pretendard ExtraBold"/>
                <a:ea typeface="Pretendard ExtraBold"/>
              </a:rPr>
              <a:t>강좌 개요
+ 서울 공간 데이터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658368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서울의 공간 단위(필지 · OA · admdong · 자치구)와 좌표계 3종을 익혀
이후 모든 모듈의 raw 데이터를 읽을 수 있게 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120640"/>
            <a:ext cx="1691640" cy="4572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FFFFFF"/>
                </a:solidFill>
                <a:latin typeface="Pretendard Medium"/>
                <a:ea typeface="Pretendard Medium"/>
              </a:rPr>
              <a:t>Open notebook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5120640"/>
            <a:ext cx="1508760" cy="4572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View raw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097280"/>
            <a:ext cx="3870655" cy="4572000"/>
          </a:xfrm>
          <a:prstGeom prst="roundRect">
            <a:avLst>
              <a:gd name="adj" fmla="val 992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156448" y="1481328"/>
            <a:ext cx="31025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56448" y="198424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448" y="1984248"/>
            <a:ext cx="195955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통행수요 분석은
‘어떤 공간 단위에서 하는가’ 로 시작·끝남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156448" y="280720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56448" y="285292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4단계 모형 위치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2852928"/>
            <a:ext cx="195955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강좌 도입 — 1·2단계
(Generation · Distribution) 의 단위 결정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6448" y="367588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6448" y="372160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사전지식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99448" y="3721608"/>
            <a:ext cx="195955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없음 (강좌 시작)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56448" y="4544568"/>
            <a:ext cx="3102559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56448" y="4590288"/>
            <a:ext cx="109728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이번 시간 산출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99448" y="4590288"/>
            <a:ext cx="1959559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개념 정리만 (파일 산출 X)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080760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19963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  ·  서울 통행수요 강좌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9855" y="6199632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160">
                <a:solidFill>
                  <a:srgbClr val="5E5E5E"/>
                </a:solidFill>
                <a:latin typeface="Pretendard"/>
                <a:ea typeface="Pretendard"/>
              </a:rPr>
              <a:t>01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STRUCTURE  ·  COURSE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91440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강좌 전체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Lec1·2 = 공통 데이터 단계 ·  Lec3·4 = 통행 수요 메인 ·  Lec5 = 도시 형태 부록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9487" y="2560320"/>
            <a:ext cx="2377440" cy="2011680"/>
          </a:xfrm>
          <a:prstGeom prst="roundRect">
            <a:avLst>
              <a:gd name="adj" fmla="val 1909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203807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Lec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3807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spc="-40">
                <a:solidFill>
                  <a:srgbClr val="FFFFFF"/>
                </a:solidFill>
                <a:latin typeface="Pretendard ExtraBold"/>
                <a:ea typeface="Pretendard ExtraBold"/>
              </a:rPr>
              <a:t>공간 데이터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3807" y="36576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FFFFFF"/>
                </a:solidFill>
                <a:latin typeface="Pretendard Medium"/>
                <a:ea typeface="Pretendard Medium"/>
              </a:rPr>
              <a:t>오늘 — 단위·좌표계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81247" y="2560320"/>
            <a:ext cx="2377440" cy="2011680"/>
          </a:xfrm>
          <a:prstGeom prst="roundRect">
            <a:avLst>
              <a:gd name="adj" fmla="val 1909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855567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5567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OA 마스터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55567" y="36576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+ LOCAL_PEOPLE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2560320"/>
            <a:ext cx="2377440" cy="2011680"/>
          </a:xfrm>
          <a:prstGeom prst="roundRect">
            <a:avLst>
              <a:gd name="adj" fmla="val 1909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507327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327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P / A 발생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07327" y="36576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 통행 발생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4767" y="2560320"/>
            <a:ext cx="2377440" cy="2011680"/>
          </a:xfrm>
          <a:prstGeom prst="roundRect">
            <a:avLst>
              <a:gd name="adj" fmla="val 1909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159087" y="283464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59087" y="324612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OD 추정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59087" y="365760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 OD 행렬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343503" y="3566160"/>
            <a:ext cx="201168" cy="0"/>
          </a:xfrm>
          <a:prstGeom prst="line">
            <a:avLst/>
          </a:prstGeom>
          <a:ln w="15875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95263" y="3566160"/>
            <a:ext cx="201168" cy="0"/>
          </a:xfrm>
          <a:prstGeom prst="line">
            <a:avLst/>
          </a:prstGeom>
          <a:ln w="15875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647023" y="3566160"/>
            <a:ext cx="201168" cy="0"/>
          </a:xfrm>
          <a:prstGeom prst="line">
            <a:avLst/>
          </a:prstGeom>
          <a:ln w="15875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4175607" y="5074920"/>
            <a:ext cx="4937760" cy="960120"/>
          </a:xfrm>
          <a:prstGeom prst="roundRect">
            <a:avLst>
              <a:gd name="adj" fmla="val 4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449927" y="534924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5  ·  부록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49927" y="5623560"/>
            <a:ext cx="43891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도시 형태 — superblock + 토지이용 (block_master)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4724247" y="4572000"/>
            <a:ext cx="45720" cy="50292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CONCEPT  ·  4-STEP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4단계 통행수요모형 — 무엇을 만드나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본 강좌 = 1·2단계.  이론은 교재 참조 → 강좌는 ‘실데이터 적용의 어려움’에 집중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2015" y="2697480"/>
            <a:ext cx="2606040" cy="2331720"/>
          </a:xfrm>
          <a:prstGeom prst="roundRect">
            <a:avLst>
              <a:gd name="adj" fmla="val 1647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38047" y="295351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spc="-100">
                <a:solidFill>
                  <a:srgbClr val="FFFFF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047" y="3730752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Trip Generation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047" y="4032504"/>
            <a:ext cx="20939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발생 · 유인량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047" y="4370832"/>
            <a:ext cx="209397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Pᵢ = 지역 i 에서 출발하는 통행 수
Aⱼ = 지역 j 에 도착하는 통행 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90675" y="44622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90675" y="446227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Pretendard"/>
                <a:ea typeface="Pretendard"/>
              </a:rPr>
              <a:t>Lecture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9223" y="2697480"/>
            <a:ext cx="2606040" cy="2331720"/>
          </a:xfrm>
          <a:prstGeom prst="roundRect">
            <a:avLst>
              <a:gd name="adj" fmla="val 1647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3645255" y="295351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spc="-100">
                <a:solidFill>
                  <a:srgbClr val="FFFFF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45255" y="3730752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Trip 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45255" y="4032504"/>
            <a:ext cx="20939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분포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45255" y="4370832"/>
            <a:ext cx="209397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Tᵢⱼ = 지역 i → j 통행 행렬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97883" y="44622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097883" y="446227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000000"/>
                </a:solidFill>
                <a:latin typeface="Pretendard"/>
                <a:ea typeface="Pretendard"/>
              </a:rPr>
              <a:t>Lecture 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6431" y="2697480"/>
            <a:ext cx="2606040" cy="23317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452463" y="295351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spc="-10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2463" y="3730752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Mode Choice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2463" y="4032504"/>
            <a:ext cx="20939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수단 분담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52463" y="4370832"/>
            <a:ext cx="209397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차·지하철·버스 선택 모형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905091" y="44622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905091" y="446227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5E5E5E"/>
                </a:solidFill>
                <a:latin typeface="Pretendard"/>
                <a:ea typeface="Pretendard"/>
              </a:rPr>
              <a:t>강좌 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03639" y="2697480"/>
            <a:ext cx="2606040" cy="2331720"/>
          </a:xfrm>
          <a:prstGeom prst="roundRect">
            <a:avLst>
              <a:gd name="adj" fmla="val 1647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259671" y="2953512"/>
            <a:ext cx="54864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0" spc="-10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59671" y="3730752"/>
            <a:ext cx="2093976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Network Assignment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59671" y="4032504"/>
            <a:ext cx="2093976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배정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59671" y="4370832"/>
            <a:ext cx="2093976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도로 네트워크 위 통행량 배정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712299" y="4462272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712299" y="4462272"/>
            <a:ext cx="118872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60">
                <a:solidFill>
                  <a:srgbClr val="5E5E5E"/>
                </a:solidFill>
                <a:latin typeface="Pretendard"/>
                <a:ea typeface="Pretendard"/>
              </a:rPr>
              <a:t>강좌 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STRUCTURE  ·  TWO TRACKS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두 트랙 구조 — 같은 raw 데이터 → 두 갈래 분석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분석 단위는 ‘데이터의 입도’ 가 결정한다.  도로 → superblock, 관측 OD → admdong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560320"/>
            <a:ext cx="2194560" cy="713232"/>
          </a:xfrm>
          <a:prstGeom prst="roundRect">
            <a:avLst>
              <a:gd name="adj" fmla="val 4615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49808" y="2651760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공간 데이터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polygon + boundary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64992"/>
            <a:ext cx="2194560" cy="713232"/>
          </a:xfrm>
          <a:prstGeom prst="roundRect">
            <a:avLst>
              <a:gd name="adj" fmla="val 4615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749808" y="3456432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SGIS 통계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인구·가구·주택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9664"/>
            <a:ext cx="2194560" cy="713232"/>
          </a:xfrm>
          <a:prstGeom prst="roundRect">
            <a:avLst>
              <a:gd name="adj" fmla="val 4615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4261104"/>
            <a:ext cx="1792224" cy="53035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LOCAL_PEOPLE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시간대 생활인구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0440" y="3081528"/>
            <a:ext cx="1828800" cy="1280160"/>
          </a:xfrm>
          <a:prstGeom prst="roundRect">
            <a:avLst>
              <a:gd name="adj" fmla="val 3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3703320" y="3264408"/>
            <a:ext cx="1463040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OA 마스터</a:t>
            </a:r>
          </a:p>
          <a:p>
            <a:pPr algn="l">
              <a:lnSpc>
                <a:spcPct val="155000"/>
              </a:lnSpc>
              <a:spcBef>
                <a:spcPts val="200"/>
              </a:spcBef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oa_master
.parquet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61488" y="2916936"/>
            <a:ext cx="740664" cy="804672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761488" y="3721608"/>
            <a:ext cx="740664" cy="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761488" y="3721608"/>
            <a:ext cx="740664" cy="804672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26480" y="2578608"/>
            <a:ext cx="2331720" cy="1051560"/>
          </a:xfrm>
          <a:prstGeom prst="roundRect">
            <a:avLst>
              <a:gd name="adj" fmla="val 31304"/>
            </a:avLst>
          </a:prstGeom>
          <a:solidFill>
            <a:srgbClr val="FFFFFF"/>
          </a:solidFill>
          <a:ln w="15875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27648" y="2779776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3 ·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072384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admdong (426)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401568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통행 수요 메인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5367528" y="3104388"/>
            <a:ext cx="740664" cy="61722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26480" y="3813048"/>
            <a:ext cx="2331720" cy="1051560"/>
          </a:xfrm>
          <a:prstGeom prst="roundRect">
            <a:avLst>
              <a:gd name="adj" fmla="val 31304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327648" y="4014216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Lec 5 (부록)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7648" y="4306824"/>
            <a:ext cx="192938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superblock (907)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7648" y="4636008"/>
            <a:ext cx="1929384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도시 형태 부록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67528" y="3721608"/>
            <a:ext cx="740664" cy="617220"/>
          </a:xfrm>
          <a:prstGeom prst="line">
            <a:avLst/>
          </a:prstGeom>
          <a:ln w="1270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7863840" y="2560320"/>
            <a:ext cx="3779215" cy="32918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183880" y="2880360"/>
            <a:ext cx="31391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TRACK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3337560"/>
            <a:ext cx="868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트랙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0" y="3337560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분석 단위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78440" y="3337560"/>
            <a:ext cx="10515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3337560"/>
            <a:ext cx="-106985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산출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83880" y="3995928"/>
            <a:ext cx="31391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183880" y="4050792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통행 수요 메인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4050792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admdong  ·  426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78440" y="4050792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관측 OD 단위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0" y="4050792"/>
            <a:ext cx="-10698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pi_aj_v1, od_matrix_v1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183880" y="4709160"/>
            <a:ext cx="313913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8183880" y="4764024"/>
            <a:ext cx="8686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도시 형태 부록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764024"/>
            <a:ext cx="132588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superblock  ·  907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78440" y="4764024"/>
            <a:ext cx="10515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도로 자연 경계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4764024"/>
            <a:ext cx="-106985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block_master.parquet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STRUCTURE  ·  SPATIAL HIERARCHY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서울 공간 단위 위계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작은 단위에서 큰 단위로 올라갈수록 코드 체계로 위계가 표현된다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396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UNIT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139696"/>
            <a:ext cx="1463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COUNT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13969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ROLE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468880"/>
            <a:ext cx="7680960" cy="676656"/>
          </a:xfrm>
          <a:prstGeom prst="roundRect">
            <a:avLst>
              <a:gd name="adj" fmla="val 4324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2960" y="25603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필지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852928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parcel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615184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89.9만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60320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LSMD · 필지·용도지역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852928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E5E5E"/>
                </a:solidFill>
                <a:latin typeface="Cascadia Code"/>
                <a:ea typeface="Cascadia Code"/>
              </a:rPr>
              <a:t>↑ centroid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236976"/>
            <a:ext cx="7680960" cy="676656"/>
          </a:xfrm>
          <a:prstGeom prst="roundRect">
            <a:avLst>
              <a:gd name="adj" fmla="val 4324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3328416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집계구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621024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OA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3832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19,097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32841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SGIS · 통계 원자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3621024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AFAFAF"/>
                </a:solidFill>
                <a:latin typeface="Cascadia Code"/>
                <a:ea typeface="Cascadia Code"/>
              </a:rPr>
              <a:t>↑ groupby ADM_CD[:8]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005072"/>
            <a:ext cx="7680960" cy="676656"/>
          </a:xfrm>
          <a:prstGeom prst="roundRect">
            <a:avLst>
              <a:gd name="adj" fmla="val 43243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22960" y="4096512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행정동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3891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Cascadia Code"/>
                <a:ea typeface="Cascadia Code"/>
              </a:rPr>
              <a:t>admdong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4151376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426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4096512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통행 수요 단위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3891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AFAFAF"/>
                </a:solidFill>
                <a:latin typeface="Cascadia Code"/>
                <a:ea typeface="Cascadia Code"/>
              </a:rPr>
              <a:t>↑ groupby [:5]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773168"/>
            <a:ext cx="7680960" cy="676656"/>
          </a:xfrm>
          <a:prstGeom prst="roundRect">
            <a:avLst>
              <a:gd name="adj" fmla="val 4324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2960" y="4864608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시군구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157216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sgg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919472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864608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정책 단위 · KTDB TAZ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5157216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E5E5E"/>
                </a:solidFill>
                <a:latin typeface="Cascadia Code"/>
                <a:ea typeface="Cascadia Code"/>
              </a:rPr>
              <a:t>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5541264"/>
            <a:ext cx="7680960" cy="676656"/>
          </a:xfrm>
          <a:prstGeom prst="roundRect">
            <a:avLst>
              <a:gd name="adj" fmla="val 43243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22960" y="5632704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시도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" y="5925312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sido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5687568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5632704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000000"/>
                </a:solidFill>
                <a:latin typeface="Pretendard Medium"/>
                <a:ea typeface="Pretendard Medium"/>
              </a:rPr>
              <a:t>서울특별시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5925312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5E5E5E"/>
                </a:solidFill>
                <a:latin typeface="Cascadia Code"/>
                <a:ea typeface="Cascadia Code"/>
              </a:rPr>
              <a:t>—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95360" y="2468880"/>
            <a:ext cx="3047695" cy="3931920"/>
          </a:xfrm>
          <a:prstGeom prst="roundRect">
            <a:avLst>
              <a:gd name="adj" fmla="val 12601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8887968" y="2761488"/>
            <a:ext cx="246247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KEY POINTS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87968" y="3264408"/>
            <a:ext cx="246247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상위 단위는 하위 단위의 묶음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87968" y="3767328"/>
            <a:ext cx="246247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본 강좌 사용 단위 — OA(통계) · admdong(통행) · superblock(도로)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87968" y="4270248"/>
            <a:ext cx="246247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⚠ admdong 코드 체계 두 종류 (행안부 vs SGIS)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87968" y="4773168"/>
            <a:ext cx="246247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  → Lecture 3 에서 매핑 다룸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SETUP  ·  IMPORTS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0. 환경 설정 + Imports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이후 모든 코드 셀은 ROOT / RAW / DRV 경로를 그대로 사용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931920"/>
          </a:xfrm>
          <a:prstGeom prst="roundRect">
            <a:avLst>
              <a:gd name="adj" fmla="val 8372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setup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2552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os, sys, warnings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numpy as np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pandas as pd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geopandas as gpd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matplotlib.pyplot as plt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warnings.filterwarnings('ignore')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%matplotlib inline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plt.rcParams['figure.figsize']     = (10, 7)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plt.rcParams['font.family']        = 'Malgun Gothic'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plt.rcParams['axes.unicode_minus'] = False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ROOT = r'F:\research\TAZ'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RAW  = os.path.join(ROOT, 'data', 'raw')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DRV  = os.path.join(ROOT, 'data', 'derived')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print('OK')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393192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6324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geopandas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319272"/>
            <a:ext cx="222473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공간 데이터 — 본 강좌 핵심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84048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Malgun Gothic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096512"/>
            <a:ext cx="222473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한글 폰트 — 안 깨지게 강제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61772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873752"/>
            <a:ext cx="222473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원본 데이터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3949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DRV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650992"/>
            <a:ext cx="2224735" cy="38404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파생 데이터 (강좌용 사본)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CRS  · 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좌표계 (CRS) 3종 — 흐름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raw → 분석(5179) → 시각화(4326)  ·  to_crs(5179) 한 줄로 변환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127" y="2697480"/>
            <a:ext cx="3474720" cy="3108960"/>
          </a:xfrm>
          <a:prstGeom prst="roundRect">
            <a:avLst>
              <a:gd name="adj" fmla="val 12352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27735" y="299008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RAW  ·  원본 좌표계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735" y="3282696"/>
            <a:ext cx="288950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3개 소스, 2개 좌표계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735" y="399592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sgis_oa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99335" y="399592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EPSG:5179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735" y="436168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roads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9335" y="436168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EPSG:5179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735" y="4727448"/>
            <a:ext cx="12801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lsmd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9335" y="472744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EPSG:5186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855567" y="4251960"/>
            <a:ext cx="457200" cy="0"/>
          </a:xfrm>
          <a:prstGeom prst="line">
            <a:avLst/>
          </a:prstGeom>
          <a:ln w="1905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809847" y="38679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5E5E5E"/>
                </a:solidFill>
                <a:latin typeface="Cascadia Code"/>
                <a:ea typeface="Cascadia Code"/>
              </a:rPr>
              <a:t>to_crs(5179)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8487" y="2697480"/>
            <a:ext cx="3474720" cy="3108960"/>
          </a:xfrm>
          <a:prstGeom prst="roundRect">
            <a:avLst>
              <a:gd name="adj" fmla="val 12352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651095" y="299008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ANALYSIS  ·  분석 표준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51095" y="3282696"/>
            <a:ext cx="288950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Cascadia Code"/>
                <a:ea typeface="Cascadia Code"/>
              </a:rPr>
              <a:t>EPSG:5179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51095" y="3858768"/>
            <a:ext cx="2889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AFAFAF"/>
                </a:solidFill>
                <a:latin typeface="Pretendard Medium"/>
                <a:ea typeface="Pretendard Medium"/>
              </a:rPr>
              <a:t>KGD2002 / Unified  ·  m 단위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51095" y="449884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·  면적 계산 m² 그대로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1095" y="4828032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·  거리 계산 m 단위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1095" y="5157216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FFFFFF"/>
                </a:solidFill>
                <a:latin typeface="Pretendard Medium"/>
                <a:ea typeface="Pretendard Medium"/>
              </a:rPr>
              <a:t>·  버퍼·인접·교차 안정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878927" y="4251960"/>
            <a:ext cx="457200" cy="0"/>
          </a:xfrm>
          <a:prstGeom prst="line">
            <a:avLst/>
          </a:prstGeom>
          <a:ln w="19050">
            <a:solidFill>
              <a:srgbClr val="4B4B4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833207" y="386791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>
                <a:solidFill>
                  <a:srgbClr val="5E5E5E"/>
                </a:solidFill>
                <a:latin typeface="Cascadia Code"/>
                <a:ea typeface="Cascadia Code"/>
              </a:rPr>
              <a:t>to_crs(4326)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81847" y="2697480"/>
            <a:ext cx="3474720" cy="3108960"/>
          </a:xfrm>
          <a:prstGeom prst="roundRect">
            <a:avLst>
              <a:gd name="adj" fmla="val 12352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674455" y="299008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VIZ  ·  웹 시각화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74455" y="3282696"/>
            <a:ext cx="288950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EPSG:4326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74455" y="3858768"/>
            <a:ext cx="2889504" cy="365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WGS84  ·  degree 단위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74455" y="4498848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deck.gl · leaflet · mapbox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74455" y="4828032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면적 계산 금지 (degree)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74455" y="5157216"/>
            <a:ext cx="288950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·  본 강좌 viewer 입력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CRS  · 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좌표계 3종 — 한 눈에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828800"/>
            <a:ext cx="7680960" cy="3291840"/>
          </a:xfrm>
          <a:prstGeom prst="roundRect">
            <a:avLst>
              <a:gd name="adj" fmla="val 1166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EPSG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240280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이름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19" y="224028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단위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40280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용도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743200"/>
            <a:ext cx="1005840" cy="310896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03720" y="2743200"/>
            <a:ext cx="10058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100">
                <a:solidFill>
                  <a:srgbClr val="FFFFFF"/>
                </a:solidFill>
                <a:latin typeface="Pretendard"/>
                <a:ea typeface="Pretendard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265176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5179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65960" y="270662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KGD2002 / Unified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19" y="270662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70662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분석 표준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8680" y="3447288"/>
            <a:ext cx="704088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68680" y="352044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5186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65960" y="357530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KGD2002 / Central Belt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19" y="357530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57530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LSMD 필지 (변환 후 분석)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8680" y="4315968"/>
            <a:ext cx="7040880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68680" y="4389120"/>
            <a:ext cx="9144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4326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65960" y="4443984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WGS84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19" y="4443984"/>
            <a:ext cx="82296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Cascadia Code"/>
                <a:ea typeface="Cascadia Code"/>
              </a:rPr>
              <a:t>degree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443984"/>
            <a:ext cx="109728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웹 시각화 전용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03920" y="1828800"/>
            <a:ext cx="3139135" cy="3291840"/>
          </a:xfrm>
          <a:prstGeom prst="roundRect">
            <a:avLst>
              <a:gd name="adj" fmla="val 12234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778240" y="2103120"/>
            <a:ext cx="259049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주의 · CAVEATS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423160"/>
            <a:ext cx="259049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WGS84(4326) 로
면적 계산 금지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3200400"/>
            <a:ext cx="259049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degree 단위는 면적 의미 없음.
면적·거리 → 반드시 5179 로 변환 후 계산.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778240" y="3977640"/>
            <a:ext cx="2590495" cy="868680"/>
          </a:xfrm>
          <a:prstGeom prst="roundRect">
            <a:avLst>
              <a:gd name="adj" fmla="val 37894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942832" y="4142232"/>
            <a:ext cx="2261311" cy="53949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gdf = gdf.to_crs(5179)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gdf['area_km2'] = gdf.area / 1e6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ADMDONG  · 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09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자치구 폴리곤 — 가장 단순한 사례 (1/3)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행정동 경계 geojson 부터 시작.  서울 자치구는 행정동 dissolve 로 얻음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383280"/>
          </a:xfrm>
          <a:prstGeom prst="roundRect">
            <a:avLst>
              <a:gd name="adj" fmla="val 972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load admdong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2706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boundary = gpd.read_file(os.path.join(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RAW, 'admdong_boundary', 'admdong_2023.geojson'))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seoul_admdong = boundary[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boundary['sidonm'].str.contains('서울', na=False)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].copy()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print(f'서울 행정동 : {len(seoul_admdong)}')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print(f'CRS         : {seoul_admdong.crs}')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print(f'컬럼        : {list(seoul_admdong.columns)}')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3383280"/>
          </a:xfrm>
          <a:prstGeom prst="roundRect">
            <a:avLst>
              <a:gd name="adj" fmla="val 13847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EXPECTED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10896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서울 행정동 : 426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3401568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CRS         : EPSG:4326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694176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컬럼        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3986784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['sidonm',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279392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 'sggnm',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4572000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 'admnm',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4864608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 'adm_cd2',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5157216"/>
            <a:ext cx="222473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Cascadia Code"/>
                <a:ea typeface="Cascadia Code"/>
              </a:rPr>
              <a:t>   'geometry']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ADMDONG  ·  AREA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자치구 폴리곤 (2/3) — 좌표 변환 + 면적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4326 → 5179 변환 후 .area / 1e6 으로 km² 계산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2377440"/>
          </a:xfrm>
          <a:prstGeom prst="roundRect">
            <a:avLst>
              <a:gd name="adj" fmla="val 13846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to_crs + area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17007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seoul_admdong = seoul_admdong.to_crs(5179)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seoul_admdong['area_km2'] = seoul_admdong.geometry.area / 1e6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print(f'서울 총 면적 : {seoul_admdong["area_km2"].sum():.1f} km²')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print('행정동 면적 통계 (km²):')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print(seoul_admdong['area_km2'].describe().round(2))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846320"/>
            <a:ext cx="8046720" cy="1783080"/>
          </a:xfrm>
          <a:prstGeom prst="roundRect">
            <a:avLst>
              <a:gd name="adj" fmla="val 18461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49377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51572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248656"/>
            <a:ext cx="7498080" cy="11064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서울 총 면적 : 605.2 km²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행정동 면적 통계 (km²):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count     426.00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mean        1.42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std         1.16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min         0.13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50%         1.07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max         9.06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62288" y="2624328"/>
            <a:ext cx="218815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5179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3035808"/>
            <a:ext cx="218815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4326 단위는
degree — 면적 의미 없음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950208"/>
            <a:ext cx="2188159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EPSG:5179 는 KGD2002 단일평면 좌표계로
단위가 m. geometry.area 가 m² 로 나와,
/ 1e6 만 하면 km² 가 됨.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5550408"/>
            <a:ext cx="218815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→ 서울 총 면적 605.2 km².
  공식 자료(605.21) 와 일치.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ADMDONG  ·  DISSOLVE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11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자치구 폴리곤 (3/3) — dissolve + 시각화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행정동 → 자치구 dissolve  ·  matplotlib choropleth 기본 패턴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dissolve + plot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sgg = seoul_admdong.dissolve(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by='sggnm', as_index=False,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aggfunc={'area_km2': 'sum'})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print(f'서울 자치구 : {len(sgg)}')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plt.subplots(figsize=(11, 9))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sgg.plot(column='area_km2', ax=ax, cmap='YlOrRd',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edgecolor='white', linewidth=1.5, legend=True,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 legend_kwds={'label': '면적 (km²)', 'shrink': 0.6})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for _, row in sgg.iterrows():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pt = row.geometry.representative_point()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ax.annotate(row['sggnm'], (pt.x, pt.y), fontsize=8, ha='center')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ax.set_title('서울 25개 자치구 — 면적 분포')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ax.set_axis_off();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30632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0" y="3063240"/>
            <a:ext cx="18589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dissolve(by='sggnm')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18589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행정동 426 → 자치구 25 로 합침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425196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251960"/>
            <a:ext cx="18589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cmap='YlOrRd'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4526280"/>
            <a:ext cx="18589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면적 → 색상 매핑 (연속형)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544068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5440680"/>
            <a:ext cx="185897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representative_point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5715000"/>
            <a:ext cx="185897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라벨 배치 — centroid 외곽 보정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 ·  INTRO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12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집계구 (OA) — 통계의 원자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SGIS 가 발급하는 가장 작은 인구 통계 단위 (Output Area)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5120640" cy="4297680"/>
          </a:xfrm>
          <a:prstGeom prst="roundRect">
            <a:avLst>
              <a:gd name="adj" fmla="val 8936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932688" y="2715768"/>
            <a:ext cx="4352544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WHAT IS OA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081528"/>
            <a:ext cx="4352544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000000"/>
                </a:solidFill>
                <a:latin typeface="Cascadia Code"/>
                <a:ea typeface="Cascadia Code"/>
              </a:rPr>
              <a:t>Output Area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087368"/>
            <a:ext cx="4352544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• 통계청 SGIS 발급, 가장 작은 인구 통계 단위</a:t>
            </a:r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• 서울 = 19,097개</a:t>
            </a:r>
          </a:p>
          <a:p>
            <a:pPr algn="l">
              <a:lnSpc>
                <a:spcPct val="155000"/>
              </a:lnSpc>
              <a:spcBef>
                <a:spcPts val="400"/>
              </a:spcBef>
            </a:pPr>
            <a:r>
              <a:rPr sz="1300" b="0">
                <a:solidFill>
                  <a:srgbClr val="5E5E5E"/>
                </a:solidFill>
                <a:latin typeface="Pretendard Medium"/>
                <a:ea typeface="Pretendard Medium"/>
              </a:rPr>
              <a:t>• 모든 인구·가구·주택 통계가 OA 단위로 공개</a:t>
            </a:r>
          </a:p>
          <a:p>
            <a:pPr algn="l">
              <a:lnSpc>
                <a:spcPct val="150000"/>
              </a:lnSpc>
              <a:spcBef>
                <a:spcPts val="400"/>
              </a:spcBef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• 본 강좌 Lecture 2 ‘OA 마스터’ 의 기준 단위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2331720"/>
            <a:ext cx="5699455" cy="4297680"/>
          </a:xfrm>
          <a:prstGeom prst="roundRect">
            <a:avLst>
              <a:gd name="adj" fmla="val 8936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236208" y="2624328"/>
            <a:ext cx="51142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CODE ANATOMY  ·  14 DIGITS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898648"/>
            <a:ext cx="511423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Cascadia Code"/>
                <a:ea typeface="Cascadia Code"/>
              </a:rPr>
              <a:t>ADM_CD = 11010530010001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28535" y="3630168"/>
            <a:ext cx="502920" cy="6766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028535" y="3630168"/>
            <a:ext cx="50292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28535" y="4361688"/>
            <a:ext cx="502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22895" y="3630168"/>
            <a:ext cx="713232" cy="676656"/>
          </a:xfrm>
          <a:prstGeom prst="roundRect">
            <a:avLst>
              <a:gd name="adj" fmla="val 4054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7622895" y="3630168"/>
            <a:ext cx="71323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010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2895" y="4361688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시군구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27567" y="3630168"/>
            <a:ext cx="713232" cy="676656"/>
          </a:xfrm>
          <a:prstGeom prst="roundRect">
            <a:avLst>
              <a:gd name="adj" fmla="val 4054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427567" y="3630168"/>
            <a:ext cx="713232" cy="6766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530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27567" y="4361688"/>
            <a:ext cx="713232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동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32239" y="3630168"/>
            <a:ext cx="1325880" cy="676656"/>
          </a:xfrm>
          <a:prstGeom prst="roundRect">
            <a:avLst>
              <a:gd name="adj" fmla="val 4054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32239" y="3630168"/>
            <a:ext cx="1325880" cy="67665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010001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2239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일련번호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28535" y="4818888"/>
            <a:ext cx="2112264" cy="420624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028535" y="4818888"/>
            <a:ext cx="2112264" cy="420624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80">
                <a:solidFill>
                  <a:srgbClr val="FFFFFF"/>
                </a:solidFill>
                <a:latin typeface="Pretendard"/>
                <a:ea typeface="Pretendard"/>
              </a:rPr>
              <a:t>ADM_CD[:8]  ·  행정동 코드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5367528"/>
            <a:ext cx="5114239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→ ADM_CD 앞 8자리 grouping 으로
  OA(19,097) → admdong(426) 집계 가능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 ·  LOAD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13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 폴리곤 로딩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19,097 폴리곤 shapefile.  CP949 인코딩 + time 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3291840"/>
          </a:xfrm>
          <a:prstGeom prst="roundRect">
            <a:avLst>
              <a:gd name="adj" fmla="val 10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load oa shapefile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2615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import time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t0 = time.time()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oa = gpd.read_file(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os.path.join(RAW, 'sgis_oa', 'bnd_oa_11_2025_2Q.shp'),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encoding='cp949')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print(f'로딩 시간 : {time.time() - t0:.1f}s')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print(f'OA 수     : {len(oa)}')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print(f'컬럼      : {list(oa.columns)}')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oa.head(3)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8046720" cy="868680"/>
          </a:xfrm>
          <a:prstGeom prst="roundRect">
            <a:avLst>
              <a:gd name="adj" fmla="val 37894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852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6071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6163056"/>
            <a:ext cx="7498080" cy="192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로딩 시간 : 5.8s   ·   OA 수 : 19,097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컬럼      : ['TOT_OA_CD', 'ADM_CD', 'BASE_YEAR', 'geometry']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ENCODING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71800"/>
            <a:ext cx="2224735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Cascadia Code"/>
                <a:ea typeface="Cascadia Code"/>
              </a:rPr>
              <a:t>CP949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794760"/>
            <a:ext cx="2224735" cy="22860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SGIS 가 배포하는 shapefile 의 .dbf 는
CP949(MS949) 인코딩.</a:t>
            </a:r>
          </a:p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
UTF-8 로 열면 한글 컬럼명 깨짐.
→ 한글 raw 데이터는 일단 cp949 시도, 그래도 깨지면 euc-kr.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 ·  AREA DISTRIBUTION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14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OA 면적 분포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인구 단위 — 도심은 작고 외곽은 큼.  log-scale 히스토그램으로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oa area distribution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oa['area_m2'] = oa.geometry.area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print(f'면적 (m²)')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  median : {oa["area_m2"].median():&gt;10,.0f}')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  p10    : {oa["area_m2"].quantile(0.1):&gt;10,.0f}')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  p90    : {oa["area_m2"].quantile(0.9):&gt;10,.0f}')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  max    : {oa["area_m2"].max():&gt;10,.0f}')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plt.subplots(figsize=(10, 4))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ax.hist(np.log10(oa['area_m2']), bins=60,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    color='steelblue', edgecolor='white')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ax.set_xlabel('log10(area m²)')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ax.set_ylabel('OA 개수')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ax.set_title('서울 OA 면적 분포 — 도심 작고 외곽 큼')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ax.grid(alpha=0.3, axis='y');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1828800"/>
          </a:xfrm>
          <a:prstGeom prst="roundRect">
            <a:avLst>
              <a:gd name="adj" fmla="val 21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EXPECTED STATS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88036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median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12680" y="2880360"/>
            <a:ext cx="13560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  13,500 m²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36392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p10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12680" y="3136392"/>
            <a:ext cx="13560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   4,200 m²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3392424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p90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3392424"/>
            <a:ext cx="13560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  60,500 m²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648456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max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12680" y="3648456"/>
            <a:ext cx="13560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1,800,000 m²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69680" y="4343400"/>
            <a:ext cx="2773375" cy="2286000"/>
          </a:xfrm>
          <a:prstGeom prst="roundRect">
            <a:avLst>
              <a:gd name="adj" fmla="val 168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144000" y="461772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WHY log10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4937760"/>
            <a:ext cx="2224735" cy="14630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OA 면적은 4자리수 차이.
선형 히스토그램에 그리면 외곽 큰 OA 가
오른쪽 tail 로 길게 늘어져 분포 모양이
안 보임.
log10 으로 정규성에 가깝게.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OA  ·  JONGNO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15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한 자치구만 — 종로구 OA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ADM_CD 앞 5자리(시군구) 필터로 종로구(11010) 만 추출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27432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filter + plot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206654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jongno_oa = oa[oa['ADM_CD'].astype(str).str[:5] == '11010']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print(f'종로구 OA : {len(jongno_oa)}')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plt.subplots(figsize=(12, 10))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jongno_oa.plot(ax=ax,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color='lightblue', edgecolor='steelblue',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    linewidth=0.4)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ax.set_title(f'종로구 OA — {len(jongno_oa)}개')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000000"/>
                </a:solidFill>
                <a:latin typeface="Cascadia Code"/>
                <a:ea typeface="Pretendard Medium"/>
              </a:rPr>
              <a:t>ax.set_axis_off();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212080"/>
            <a:ext cx="8046720" cy="640080"/>
          </a:xfrm>
          <a:prstGeom prst="roundRect">
            <a:avLst>
              <a:gd name="adj" fmla="val 50000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22960" y="530352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output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2960" y="552297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22960" y="5614416"/>
            <a:ext cx="7498080" cy="-365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종로구 OA : 388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44000" y="2606040"/>
            <a:ext cx="2224735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PATTERN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926080"/>
            <a:ext cx="2224735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ADM_CD
slicing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977640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[:2]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39776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27080" y="3977640"/>
            <a:ext cx="4416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436168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[:5]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21240" y="4361688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시군구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27080" y="4361688"/>
            <a:ext cx="4416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745736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[:8]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4745736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행정동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27080" y="4745736"/>
            <a:ext cx="4416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11010530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5129784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100" b="1">
                <a:solidFill>
                  <a:srgbClr val="000000"/>
                </a:solidFill>
                <a:latin typeface="Cascadia Code"/>
                <a:ea typeface="Cascadia Code"/>
              </a:rPr>
              <a:t>[:14]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129784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OA 일련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27080" y="5129784"/>
            <a:ext cx="441655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Cascadia Code"/>
                <a:ea typeface="Cascadia Code"/>
              </a:rPr>
              <a:t>11010530010001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PARCEL  ·  LSMD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16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필지 — LSMD zone_class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89.9만 필지를 한꺼번에 그릴 수 없다 — bbox 스트리밍이 합리적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77440"/>
            <a:ext cx="2606040" cy="1463040"/>
          </a:xfrm>
          <a:prstGeom prst="roundRect">
            <a:avLst>
              <a:gd name="adj" fmla="val 2625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7724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원본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1.5 GB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LSMD · EPSG:5186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2377440"/>
            <a:ext cx="2606040" cy="1463040"/>
          </a:xfrm>
          <a:prstGeom prst="roundRect">
            <a:avLst>
              <a:gd name="adj" fmla="val 2625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6616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강좌용 사본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89864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322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4747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seoul_parcels.fgb · 4326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2377440"/>
            <a:ext cx="2606040" cy="1463040"/>
          </a:xfrm>
          <a:prstGeom prst="roundRect">
            <a:avLst>
              <a:gd name="adj" fmla="val 2625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55080" y="2606040"/>
            <a:ext cx="2148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필지 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898648"/>
            <a:ext cx="2148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000000"/>
                </a:solidFill>
                <a:latin typeface="Pretendard ExtraBold"/>
                <a:ea typeface="Pretendard ExtraBold"/>
              </a:rPr>
              <a:t>89.9만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474720"/>
            <a:ext cx="214884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11 종 zone_class 라벨 완료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15400" y="2377440"/>
            <a:ext cx="2727655" cy="1463040"/>
          </a:xfrm>
          <a:prstGeom prst="roundRect">
            <a:avLst>
              <a:gd name="adj" fmla="val 2625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208008" y="2670048"/>
            <a:ext cx="2142439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WHY BBOX STREAMING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3035808"/>
            <a:ext cx="2142439" cy="9144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전체 그리면 검정 화면
샘플은 너무 듬성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3576218" cy="1920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3411626" y="43708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3411626" y="43708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80">
                <a:solidFill>
                  <a:srgbClr val="5E5E5E"/>
                </a:solidFill>
                <a:latin typeface="Pretendard"/>
                <a:ea typeface="Pretendard"/>
              </a:rPr>
              <a:t>FAIL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" y="4370832"/>
            <a:ext cx="260695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전체 로딩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5148072"/>
            <a:ext cx="306415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89.9만 필지 — 화면 검어짐 + IO 4~6초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07738" y="4114800"/>
            <a:ext cx="3576218" cy="19202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7170724" y="43708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7170724" y="43708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80">
                <a:solidFill>
                  <a:srgbClr val="5E5E5E"/>
                </a:solidFill>
                <a:latin typeface="Pretendard"/>
                <a:ea typeface="Pretendard"/>
              </a:rPr>
              <a:t>FAIL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3770" y="4370832"/>
            <a:ext cx="260695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preview 샘플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63770" y="5148072"/>
            <a:ext cx="306415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1,000개 — 듬성, 분석 불가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6836" y="4114800"/>
            <a:ext cx="3576218" cy="1920240"/>
          </a:xfrm>
          <a:prstGeom prst="roundRect">
            <a:avLst>
              <a:gd name="adj" fmla="val 20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10929822" y="4370832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0929822" y="4370832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000" b="1" spc="80">
                <a:solidFill>
                  <a:srgbClr val="000000"/>
                </a:solidFill>
                <a:latin typeface="Pretendard"/>
                <a:ea typeface="Pretendard"/>
              </a:rPr>
              <a:t>OK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2868" y="4370832"/>
            <a:ext cx="2606954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FFFFFF"/>
                </a:solidFill>
                <a:latin typeface="Pretendard"/>
                <a:ea typeface="Pretendard"/>
              </a:rPr>
              <a:t>BBOX 스트리밍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2868" y="5148072"/>
            <a:ext cx="3064154" cy="630936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AFAFAF"/>
                </a:solidFill>
                <a:latin typeface="Pretendard Medium"/>
                <a:ea typeface="Pretendard Medium"/>
              </a:rPr>
              <a:t>FlatGeobuf spatial index 활용
→ 자치구 하나만 디스크에서 읽음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PARCEL  ·  BBOX 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17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필지 bbox 스트리밍 — 종로구만 풀 필지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FGB spatial index 가 디스크에서 bbox 영역만 읽어옴 (322 MB 전부 안 읽음)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bbox stream + clip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parcels.fgb 는 EPSG:4326 이므로 bbox 도 4326 으로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jongno_bbox_4326 = tuple(jongno_oa.to_crs(4326).total_bounds)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t0 = time.time()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parcels = gpd.read_file(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os.path.join(DRV, 'seoul_parcels.fgb'),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    bbox=jongno_bbox_4326)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print(f'로딩 시간     : {time.time() - t0:.1f}s')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print(f'bbox 내 필지  : {len(parcels):,}')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# 5179 로 분석 변환 + 종로구 경계로 클립 (사각형 → 폴리곤)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parcels = parcels.to_crs(5179)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jongno_union = jongno_oa.geometry.union_all()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parcels = parcels[parcels.geometry.within(jongno_union)].copy()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00000"/>
                </a:solidFill>
                <a:latin typeface="Cascadia Code"/>
                <a:ea typeface="Pretendard Medium"/>
              </a:rPr>
              <a:t>print(f'종로구 안 필지: {len(parcels):,}')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992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91472" y="299923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bbox 계산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91472" y="3227832"/>
            <a:ext cx="189555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jongno_oa 의 total_bounds — 4326 좌표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9136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391363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FGB 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4142232"/>
            <a:ext cx="189555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spatial index 로 영역 안만 디스크 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48280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91472" y="482803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to_crs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5056632"/>
            <a:ext cx="189555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5179 로 분석 표준 변환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25712" y="5742432"/>
            <a:ext cx="3200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000000"/>
                </a:solidFill>
                <a:latin typeface="Pretendard"/>
                <a:ea typeface="Pretendard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91472" y="5742432"/>
            <a:ext cx="1895551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Pretendard"/>
                <a:ea typeface="Pretendard"/>
              </a:rPr>
              <a:t>clip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91472" y="5971032"/>
            <a:ext cx="189555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bbox 는 사각형 → 종로구 폴리곤으로 클립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PARCEL  ·  ZONE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18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zone_class 분포 + 색상 팔레트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blocks/aggregate_landuse.py LU_COLOR 와 동일 톤 — RGB 0-255 → matplotlib 0-1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zone palette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종로구 zone_class 분포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print('종로구 zone_class top 10:')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print(parcels['zone_class'].value_counts().head(10))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from matplotlib.patches import Patch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ZONE_COLOR = {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'전용주거':           (1.00, 0.90, 0.60),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'일반주거_저밀(1종)': (1.00, 0.78, 0.47),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'일반주거_중밀(2종)': (1.00, 0.65, 0.31),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'일반주거_고밀(3종)': (0.88, 0.47, 0.20),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'준주거':            (0.78, 0.35, 0.39),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'중심·일반상업':     (0.86, 0.24, 0.24),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'근린·유통상업':     (0.94, 0.43, 0.55),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'일반·준공업':       (0.59, 0.43, 0.86),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'보전·자연녹지':     (0.43, 0.71, 0.43),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'생산녹지':          (0.63, 0.82, 0.39),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}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PALETTE PREVIEW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25712" y="2999232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FFE5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09760" y="3017520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전용주거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25712" y="3328416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FFC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0" y="3346704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일주_저(1종)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25712" y="365760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FFA6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0" y="3675888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일주_중(2종)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25712" y="3986784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E078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09760" y="4005072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일주_고(3종)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25712" y="431596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C759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9760" y="4334256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준주거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25712" y="4645152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DB3D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509760" y="4663440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중심·일반상업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25712" y="4974336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F06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09760" y="4992624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근린·유통상업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25712" y="5303520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976E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509760" y="5321808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일반·준공업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25712" y="5632704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6EB5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509760" y="5650992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보전·자연녹지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25712" y="5961888"/>
            <a:ext cx="292608" cy="292608"/>
          </a:xfrm>
          <a:prstGeom prst="roundRect">
            <a:avLst>
              <a:gd name="adj" fmla="val 18000"/>
            </a:avLst>
          </a:prstGeom>
          <a:solidFill>
            <a:srgbClr val="A1D1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9509760" y="5980176"/>
            <a:ext cx="1877263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000000"/>
                </a:solidFill>
                <a:latin typeface="Pretendard Medium"/>
                <a:ea typeface="Pretendard Medium"/>
              </a:rPr>
              <a:t>생산녹지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PARCEL  ·  CHOROPLETH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19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zone_class choropleth — 11클래스 색칠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002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0">
                <a:solidFill>
                  <a:srgbClr val="5E5E5E"/>
                </a:solidFill>
                <a:latin typeface="Pretendard Medium"/>
                <a:ea typeface="Pretendard Medium"/>
              </a:rPr>
              <a:t>PatchCollection 자동 legend 못 잡음 → Patch 핸들 수동 생성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331720"/>
            <a:ext cx="8046720" cy="4297680"/>
          </a:xfrm>
          <a:prstGeom prst="roundRect">
            <a:avLst>
              <a:gd name="adj" fmla="val 7659"/>
            </a:avLst>
          </a:prstGeom>
          <a:solidFill>
            <a:srgbClr val="F3F3F3"/>
          </a:solidFill>
          <a:ln w="6350">
            <a:solidFill>
              <a:srgbClr val="EEEE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2960" y="2423160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120">
                <a:solidFill>
                  <a:srgbClr val="5E5E5E"/>
                </a:solidFill>
                <a:latin typeface="Pretendard"/>
                <a:ea typeface="Pretendard"/>
              </a:rPr>
              <a:t>cell · zone_class choropleth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2960" y="2642616"/>
            <a:ext cx="7498080" cy="0"/>
          </a:xfrm>
          <a:prstGeom prst="line">
            <a:avLst/>
          </a:prstGeom>
          <a:ln w="508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2734056"/>
            <a:ext cx="7498080" cy="36210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fig, ax = plt.subplots(figsize=(12, 11))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handles = []   # 자동 legend 매칭 안됨 → 핸들 수동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for cls, color in ZONE_COLOR.items():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sub = parcels[parcels['zone_class'] == cls]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if not len(sub): continue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sub.plot(ax=ax, color=color,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edgecolor='white', linewidth=0.05)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handles.append(Patch(facecolor=color, edgecolor='white',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               label=f'{cls} ({len(sub):,})'))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# 종로구 외곽선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jongno_oa.dissolve().boundary.plot(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ax=ax, color='black', linewidth=0.6)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ax.legend(handles=handles, loc='lower right',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          fontsize=8, framealpha=0.9)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ax.set_title(f'종로구 — LSMD 필지 {len(parcels):,}개 × zone_class')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0000"/>
                </a:solidFill>
                <a:latin typeface="Cascadia Code"/>
                <a:ea typeface="Pretendard Medium"/>
              </a:rPr>
              <a:t>ax.set_axis_off(); plt.show()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869680" y="2331720"/>
            <a:ext cx="2773375" cy="4297680"/>
          </a:xfrm>
          <a:prstGeom prst="roundRect">
            <a:avLst>
              <a:gd name="adj" fmla="val 13847"/>
            </a:avLst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25712" y="258775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PATTERN NOTES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5712" y="299923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loop per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325526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각 zone_class 마다 sub.plot 호출 — 동일 색·라인 일관성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25712" y="386791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legend handles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412394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PatchCollection 은 자동 legend 매칭 못해서
Patch 객체로 직접 만들어 list 에 append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25712" y="473659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외곽선 overlay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25712" y="499262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dissolve().boundary 로 자치구 경계만 검정선으로
위에 한 번 더 plot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25712" y="5605272"/>
            <a:ext cx="2261311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1">
                <a:solidFill>
                  <a:srgbClr val="000000"/>
                </a:solidFill>
                <a:latin typeface="Cascadia Code"/>
                <a:ea typeface="Cascadia Code"/>
              </a:rPr>
              <a:t>linewidth 0.05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5861304"/>
            <a:ext cx="2261311" cy="731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필지 간 흰 hairline — 너무 두꺼우면 색이 가려짐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000000"/>
                </a:solidFill>
                <a:latin typeface="Pretendard"/>
                <a:ea typeface="Pretendard"/>
              </a:rPr>
              <a:t>SUMMARY  ·  RECAP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899855" y="29260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1" spc="240">
                <a:solidFill>
                  <a:srgbClr val="5E5E5E"/>
                </a:solidFill>
                <a:latin typeface="Pretendard"/>
                <a:ea typeface="Pretendard"/>
              </a:rPr>
              <a:t>TAZ STUDIO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48640" y="6382512"/>
            <a:ext cx="11094415" cy="0"/>
          </a:xfrm>
          <a:prstGeom prst="line">
            <a:avLst/>
          </a:prstGeom>
          <a:ln w="7620">
            <a:solidFill>
              <a:srgbClr val="EEEE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5E5E5E"/>
                </a:solidFill>
                <a:latin typeface="Pretendard ExtraLight"/>
                <a:ea typeface="Pretendard ExtraLight"/>
              </a:rPr>
              <a:t>TAZ · Lecture 1 · 서울 공간 데이터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14255" y="647395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900" b="0" spc="50">
                <a:solidFill>
                  <a:srgbClr val="5E5E5E"/>
                </a:solidFill>
                <a:latin typeface="Pretendard ExtraLight"/>
                <a:ea typeface="Pretendard ExtraLight"/>
              </a:rPr>
              <a:t>20 /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91440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0" spc="-60">
                <a:solidFill>
                  <a:srgbClr val="000000"/>
                </a:solidFill>
                <a:latin typeface="Pretendard ExtraBold"/>
                <a:ea typeface="Pretendard ExtraBold"/>
              </a:rPr>
              <a:t>정리 — Lecture 1 에서 챙길 5가지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49808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4단계 모형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본 강좌 = 1·2단계
(Generation · Distribution)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04099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05267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05267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두 트랙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5267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메인 — admdong(426)
부록 — superblock(907)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59558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260726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0726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공간 위계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60726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필지(89만) ↑ OA(1.9만)
↑ admdong(426) ↑ 시군구(25)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017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6185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16185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좌표계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16185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EPSG:5179 분석 표준 (m)
4326 시각화 전용 (degree)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70476" y="2011680"/>
            <a:ext cx="2072579" cy="2377440"/>
          </a:xfrm>
          <a:prstGeom prst="roundRect">
            <a:avLst>
              <a:gd name="adj" fmla="val 18529"/>
            </a:avLst>
          </a:prstGeom>
          <a:solidFill>
            <a:srgbClr val="EF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771644" y="221284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0" spc="-40">
                <a:solidFill>
                  <a:srgbClr val="AFAFAF"/>
                </a:solidFill>
                <a:latin typeface="Pretendard ExtraBold"/>
                <a:ea typeface="Pretendard ExtraBol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71644" y="2715768"/>
            <a:ext cx="167024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1" spc="0">
                <a:solidFill>
                  <a:srgbClr val="000000"/>
                </a:solidFill>
                <a:latin typeface="Pretendard"/>
                <a:ea typeface="Pretendard"/>
              </a:rPr>
              <a:t>geopandas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71644" y="3218688"/>
            <a:ext cx="1670243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>
                <a:solidFill>
                  <a:srgbClr val="5E5E5E"/>
                </a:solidFill>
                <a:latin typeface="Pretendard Medium"/>
                <a:ea typeface="Pretendard Medium"/>
              </a:rPr>
              <a:t>read_file · to_crs · area
dissolve · plot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754880"/>
            <a:ext cx="11094415" cy="1554480"/>
          </a:xfrm>
          <a:prstGeom prst="roundRect">
            <a:avLst>
              <a:gd name="adj" fmla="val 24705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05840" y="52120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spc="240">
                <a:solidFill>
                  <a:srgbClr val="AFAFAF"/>
                </a:solidFill>
                <a:latin typeface="Pretendard"/>
                <a:ea typeface="Pretendard"/>
              </a:rPr>
              <a:t>NEXT  ·  LECTURE 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4864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 spc="-20">
                <a:solidFill>
                  <a:srgbClr val="FFFFFF"/>
                </a:solidFill>
                <a:latin typeface="Pretendard"/>
                <a:ea typeface="Pretendard"/>
              </a:rPr>
              <a:t>OA 마스터 구축 — SGIS 통계 + LOCAL_PEOPLE 시간대 생활인구 통합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91295" y="5280660"/>
            <a:ext cx="219456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991295" y="5280660"/>
            <a:ext cx="2194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000000"/>
                </a:solidFill>
                <a:latin typeface="Pretendard Medium"/>
                <a:ea typeface="Pretendard Medium"/>
              </a:rPr>
              <a:t>Open Lecture 02 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